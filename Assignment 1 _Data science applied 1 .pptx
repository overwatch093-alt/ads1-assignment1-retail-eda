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IBM Plex Mono" panose="020B0509050203000203" pitchFamily="49" charset="0"/>
      <p:regular r:id="rId15"/>
    </p:embeddedFont>
    <p:embeddedFont>
      <p:font typeface="Montserrat Bold" panose="020B0604020202020204" charset="0"/>
      <p:regular r:id="rId16"/>
    </p:embeddedFont>
    <p:embeddedFont>
      <p:font typeface="Source Sans 3" panose="020B0604020202020204" charset="0"/>
      <p:regular r:id="rId17"/>
    </p:embeddedFont>
    <p:embeddedFont>
      <p:font typeface="Source Sans 3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102" d="100"/>
          <a:sy n="102" d="100"/>
        </p:scale>
        <p:origin x="560" y="1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16.10.2026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Introduce project scope and modular code availability.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Emphasise transformation from raw data to actionable insights.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Explain missingness patterns and implications.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Highlight careful imputation to preserve data integrity.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Highlight even revenue distribution and category rankings.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Emphasise volume as primary driver; clarify no unsupported correlations.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Explain channel parity across retail sectors.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Confirm spending distributions equivalence across payment methods.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Highlight revenue stability and steady monthly demand.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Recommendations balance data without overstating conclusions.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Emphasise modular, documented, reproducible codebase.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Politely end presentation and invite questions.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verwatch093-alt/ADS1-Assignment1-Retail-ED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verwatch093-alt/ADS1-Assignment1-Retail-EDA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47650" cy="10287000"/>
            <a:chOff x="0" y="0"/>
            <a:chExt cx="3302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0200" cy="13716000"/>
            </a:xfrm>
            <a:custGeom>
              <a:avLst/>
              <a:gdLst/>
              <a:ahLst/>
              <a:cxnLst/>
              <a:rect l="l" t="t" r="r" b="b"/>
              <a:pathLst>
                <a:path w="330200" h="13716000">
                  <a:moveTo>
                    <a:pt x="0" y="0"/>
                  </a:moveTo>
                  <a:lnTo>
                    <a:pt x="330200" y="0"/>
                  </a:lnTo>
                  <a:lnTo>
                    <a:pt x="330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474E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302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811250" y="-1714500"/>
            <a:ext cx="5334000" cy="5334000"/>
            <a:chOff x="0" y="0"/>
            <a:chExt cx="7112000" cy="7112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112000" cy="7112000"/>
            </a:xfrm>
            <a:custGeom>
              <a:avLst/>
              <a:gdLst/>
              <a:ahLst/>
              <a:cxnLst/>
              <a:rect l="l" t="t" r="r" b="b"/>
              <a:pathLst>
                <a:path w="7112000" h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7112000"/>
                  </a:lnTo>
                  <a:lnTo>
                    <a:pt x="0" y="7112000"/>
                  </a:lnTo>
                  <a:close/>
                </a:path>
              </a:pathLst>
            </a:custGeom>
            <a:solidFill>
              <a:srgbClr val="2474E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7112000" cy="715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763250" y="1619250"/>
            <a:ext cx="5810250" cy="6286500"/>
            <a:chOff x="0" y="0"/>
            <a:chExt cx="7747000" cy="8382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747000" cy="8382000"/>
            </a:xfrm>
            <a:custGeom>
              <a:avLst/>
              <a:gdLst/>
              <a:ahLst/>
              <a:cxnLst/>
              <a:rect l="l" t="t" r="r" b="b"/>
              <a:pathLst>
                <a:path w="7747000" h="8382000">
                  <a:moveTo>
                    <a:pt x="0" y="0"/>
                  </a:moveTo>
                  <a:lnTo>
                    <a:pt x="7747000" y="0"/>
                  </a:lnTo>
                  <a:lnTo>
                    <a:pt x="7747000" y="8382000"/>
                  </a:lnTo>
                  <a:lnTo>
                    <a:pt x="0" y="8382000"/>
                  </a:lnTo>
                  <a:close/>
                </a:path>
              </a:pathLst>
            </a:custGeom>
            <a:solidFill>
              <a:srgbClr val="102B4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7747000" cy="842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52500" y="866775"/>
            <a:ext cx="8572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231">
                <a:solidFill>
                  <a:srgbClr val="75A7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APPLIED DATA SCIENCE 1  •  7FTC2004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2500" y="1800225"/>
            <a:ext cx="9334500" cy="1616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73"/>
              </a:lnSpc>
            </a:pPr>
            <a:r>
              <a:rPr lang="en-US" sz="615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Exploration &amp;</a:t>
            </a:r>
          </a:p>
          <a:p>
            <a:pPr algn="l">
              <a:lnSpc>
                <a:spcPts val="6273"/>
              </a:lnSpc>
            </a:pPr>
            <a:r>
              <a:rPr lang="en-US" sz="6150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Visualisation</a:t>
            </a:r>
            <a:endParaRPr lang="en-US" sz="6150" b="1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52500" y="3648075"/>
            <a:ext cx="8572500" cy="563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1">
                <a:solidFill>
                  <a:srgbClr val="75A7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Retail Store Sales Analysis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2500" y="4486275"/>
            <a:ext cx="8382000" cy="683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C9D7E8"/>
                </a:solidFill>
                <a:latin typeface="Source Sans 3"/>
                <a:ea typeface="Source Sans 3"/>
                <a:cs typeface="Source Sans 3"/>
                <a:sym typeface="Source Sans 3"/>
              </a:rPr>
              <a:t>A data-driven investigation into omnichannel sales performance, customer purchasing patterns, and transaction distributions (2022–2025)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334750" y="2314575"/>
            <a:ext cx="4476750" cy="1431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6"/>
              </a:lnSpc>
            </a:pPr>
            <a:r>
              <a:rPr lang="en-US" sz="1875" dirty="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TRUONG TAN PHAT  |  9027KVDX</a:t>
            </a:r>
          </a:p>
          <a:p>
            <a:pPr algn="l">
              <a:lnSpc>
                <a:spcPts val="2906"/>
              </a:lnSpc>
            </a:pPr>
            <a:r>
              <a:rPr lang="en-US" sz="1875" dirty="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Tutor: Wong Kim Siong</a:t>
            </a:r>
          </a:p>
          <a:p>
            <a:pPr algn="l">
              <a:lnSpc>
                <a:spcPts val="2906"/>
              </a:lnSpc>
            </a:pPr>
            <a:r>
              <a:rPr lang="en-US" sz="1875" dirty="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PSB Academy • University of Hertfordshire</a:t>
            </a:r>
          </a:p>
          <a:p>
            <a:pPr algn="l">
              <a:lnSpc>
                <a:spcPts val="2906"/>
              </a:lnSpc>
            </a:pPr>
            <a:r>
              <a:rPr lang="en-US" sz="1875" dirty="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Submission: October 2026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1144250" y="6019800"/>
            <a:ext cx="4857750" cy="1213485"/>
            <a:chOff x="0" y="0"/>
            <a:chExt cx="6477000" cy="1617980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6477000" cy="838200"/>
              <a:chOff x="0" y="0"/>
              <a:chExt cx="6477000" cy="8382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6477000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6477000" h="838200">
                    <a:moveTo>
                      <a:pt x="0" y="0"/>
                    </a:moveTo>
                    <a:lnTo>
                      <a:pt x="6477000" y="0"/>
                    </a:lnTo>
                    <a:lnTo>
                      <a:pt x="6477000" y="838200"/>
                    </a:lnTo>
                    <a:lnTo>
                      <a:pt x="0" y="838200"/>
                    </a:lnTo>
                    <a:close/>
                  </a:path>
                </a:pathLst>
              </a:custGeom>
              <a:solidFill>
                <a:srgbClr val="2474E5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6477000" cy="876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254000" y="200025"/>
              <a:ext cx="5969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  <a:hlinkClick r:id="rId3" tooltip="https://github.com/overwatch093-alt/ADS1-Assignment1-Retail-EDA"/>
                </a:rPr>
                <a:t>VIEW PUBLIC GITHUB REPOSITORY  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4000" y="1317625"/>
              <a:ext cx="5969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>
                  <a:solidFill>
                    <a:srgbClr val="9CB9DF"/>
                  </a:solidFill>
                  <a:latin typeface="Source Sans 3"/>
                  <a:ea typeface="Source Sans 3"/>
                  <a:cs typeface="Source Sans 3"/>
                  <a:sym typeface="Source Sans 3"/>
                  <a:hlinkClick r:id="rId3" tooltip="https://github.com/overwatch093-alt/ADS1-Assignment1-Retail-EDA"/>
                </a:rPr>
                <a:t>github.com/overwatch093-alt/ADS1-Assignment1-Retail-EDA</a:t>
              </a:r>
            </a:p>
          </p:txBody>
        </p:sp>
      </p:grp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571500"/>
            <a:ext cx="8572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264">
                <a:solidFill>
                  <a:srgbClr val="2474E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01 • PROJECT FRAMING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2500" y="1114425"/>
            <a:ext cx="14287500" cy="493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600" b="1">
                <a:solidFill>
                  <a:srgbClr val="10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raw transactions to decisions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811500" y="695325"/>
            <a:ext cx="1524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5D6D8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02 / 12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52500" y="400050"/>
            <a:ext cx="16383000" cy="47625"/>
            <a:chOff x="0" y="0"/>
            <a:chExt cx="21844000" cy="635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844000" cy="63500"/>
            </a:xfrm>
            <a:custGeom>
              <a:avLst/>
              <a:gdLst/>
              <a:ahLst/>
              <a:cxnLst/>
              <a:rect l="l" t="t" r="r" b="b"/>
              <a:pathLst>
                <a:path w="21844000" h="63500">
                  <a:moveTo>
                    <a:pt x="0" y="0"/>
                  </a:moveTo>
                  <a:lnTo>
                    <a:pt x="21844000" y="0"/>
                  </a:lnTo>
                  <a:lnTo>
                    <a:pt x="2184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2474E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18440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2500" y="2333625"/>
            <a:ext cx="3810000" cy="1476375"/>
            <a:chOff x="0" y="0"/>
            <a:chExt cx="5080000" cy="19685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5080000" cy="1968500"/>
              <a:chOff x="0" y="0"/>
              <a:chExt cx="5080000" cy="19685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080000" cy="1968500"/>
              </a:xfrm>
              <a:custGeom>
                <a:avLst/>
                <a:gdLst/>
                <a:ahLst/>
                <a:cxnLst/>
                <a:rect l="l" t="t" r="r" b="b"/>
                <a:pathLst>
                  <a:path w="5080000" h="19685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1968500"/>
                    </a:lnTo>
                    <a:lnTo>
                      <a:pt x="0" y="1968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5080000" cy="2006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81000" y="317500"/>
              <a:ext cx="4318000" cy="924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880"/>
                </a:lnSpc>
              </a:pPr>
              <a:r>
                <a:rPr lang="en-US" sz="4200" b="1">
                  <a:solidFill>
                    <a:srgbClr val="2474E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12,575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1000" y="1339850"/>
              <a:ext cx="4318000" cy="3467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 b="1">
                  <a:solidFill>
                    <a:srgbClr val="5D6D82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RAW RECORDS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048250" y="2333625"/>
            <a:ext cx="3810000" cy="1476375"/>
            <a:chOff x="0" y="0"/>
            <a:chExt cx="5080000" cy="1968500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5080000" cy="1968500"/>
              <a:chOff x="0" y="0"/>
              <a:chExt cx="5080000" cy="19685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5080000" cy="1968500"/>
              </a:xfrm>
              <a:custGeom>
                <a:avLst/>
                <a:gdLst/>
                <a:ahLst/>
                <a:cxnLst/>
                <a:rect l="l" t="t" r="r" b="b"/>
                <a:pathLst>
                  <a:path w="5080000" h="19685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1968500"/>
                    </a:lnTo>
                    <a:lnTo>
                      <a:pt x="0" y="1968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5080000" cy="2006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381000" y="317500"/>
              <a:ext cx="4318000" cy="924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880"/>
                </a:lnSpc>
              </a:pPr>
              <a:r>
                <a:rPr lang="en-US" sz="4200" b="1">
                  <a:solidFill>
                    <a:srgbClr val="2474E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81000" y="1339850"/>
              <a:ext cx="4318000" cy="3467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 b="1">
                  <a:solidFill>
                    <a:srgbClr val="5D6D82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FEATURES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144000" y="2333625"/>
            <a:ext cx="3810000" cy="1476375"/>
            <a:chOff x="0" y="0"/>
            <a:chExt cx="5080000" cy="1968500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5080000" cy="1968500"/>
              <a:chOff x="0" y="0"/>
              <a:chExt cx="5080000" cy="19685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5080000" cy="1968500"/>
              </a:xfrm>
              <a:custGeom>
                <a:avLst/>
                <a:gdLst/>
                <a:ahLst/>
                <a:cxnLst/>
                <a:rect l="l" t="t" r="r" b="b"/>
                <a:pathLst>
                  <a:path w="5080000" h="19685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1968500"/>
                    </a:lnTo>
                    <a:lnTo>
                      <a:pt x="0" y="1968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5080000" cy="2006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381000" y="317500"/>
              <a:ext cx="4318000" cy="924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880"/>
                </a:lnSpc>
              </a:pPr>
              <a:r>
                <a:rPr lang="en-US" sz="4200" b="1">
                  <a:solidFill>
                    <a:srgbClr val="2474E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8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81000" y="1339850"/>
              <a:ext cx="4318000" cy="3467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 b="1">
                  <a:solidFill>
                    <a:srgbClr val="5D6D82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RETAIL CATEGORIES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239750" y="2333625"/>
            <a:ext cx="3810000" cy="1476375"/>
            <a:chOff x="0" y="0"/>
            <a:chExt cx="5080000" cy="1968500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5080000" cy="1968500"/>
              <a:chOff x="0" y="0"/>
              <a:chExt cx="5080000" cy="19685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5080000" cy="1968500"/>
              </a:xfrm>
              <a:custGeom>
                <a:avLst/>
                <a:gdLst/>
                <a:ahLst/>
                <a:cxnLst/>
                <a:rect l="l" t="t" r="r" b="b"/>
                <a:pathLst>
                  <a:path w="5080000" h="19685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1968500"/>
                    </a:lnTo>
                    <a:lnTo>
                      <a:pt x="0" y="1968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5080000" cy="2006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381000" y="317500"/>
              <a:ext cx="4318000" cy="924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880"/>
                </a:lnSpc>
              </a:pPr>
              <a:r>
                <a:rPr lang="en-US" sz="4200" b="1">
                  <a:solidFill>
                    <a:srgbClr val="20A77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2022–25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81000" y="1339850"/>
              <a:ext cx="4318000" cy="3467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 b="1">
                  <a:solidFill>
                    <a:srgbClr val="5D6D82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ANALYSIS PERIOD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52500" y="4524375"/>
            <a:ext cx="7810500" cy="1666875"/>
            <a:chOff x="0" y="0"/>
            <a:chExt cx="10414000" cy="2222500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10414000" cy="2222500"/>
              <a:chOff x="0" y="0"/>
              <a:chExt cx="10414000" cy="22225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10414000" cy="2222500"/>
              </a:xfrm>
              <a:custGeom>
                <a:avLst/>
                <a:gdLst/>
                <a:ahLst/>
                <a:cxnLst/>
                <a:rect l="l" t="t" r="r" b="b"/>
                <a:pathLst>
                  <a:path w="10414000" h="22225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2222500"/>
                    </a:lnTo>
                    <a:lnTo>
                      <a:pt x="0" y="2222500"/>
                    </a:lnTo>
                    <a:close/>
                  </a:path>
                </a:pathLst>
              </a:custGeom>
              <a:solidFill>
                <a:srgbClr val="DBEAFE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38100"/>
                <a:ext cx="10414000" cy="2260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431800" y="342900"/>
              <a:ext cx="3302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264">
                  <a:solidFill>
                    <a:srgbClr val="2474E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AUDIT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31800" y="942975"/>
              <a:ext cx="9017000" cy="5149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 b="1">
                  <a:solidFill>
                    <a:srgbClr val="10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Clean without introducing bias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144000" y="4524375"/>
            <a:ext cx="7810500" cy="1666875"/>
            <a:chOff x="0" y="0"/>
            <a:chExt cx="10414000" cy="2222500"/>
          </a:xfrm>
        </p:grpSpPr>
        <p:grpSp>
          <p:nvGrpSpPr>
            <p:cNvPr id="39" name="Group 39"/>
            <p:cNvGrpSpPr/>
            <p:nvPr/>
          </p:nvGrpSpPr>
          <p:grpSpPr>
            <a:xfrm>
              <a:off x="0" y="0"/>
              <a:ext cx="10414000" cy="2222500"/>
              <a:chOff x="0" y="0"/>
              <a:chExt cx="10414000" cy="22225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10414000" cy="2222500"/>
              </a:xfrm>
              <a:custGeom>
                <a:avLst/>
                <a:gdLst/>
                <a:ahLst/>
                <a:cxnLst/>
                <a:rect l="l" t="t" r="r" b="b"/>
                <a:pathLst>
                  <a:path w="10414000" h="22225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2222500"/>
                    </a:lnTo>
                    <a:lnTo>
                      <a:pt x="0" y="2222500"/>
                    </a:lnTo>
                    <a:close/>
                  </a:path>
                </a:pathLst>
              </a:custGeom>
              <a:solidFill>
                <a:srgbClr val="DBEAFE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0" y="-38100"/>
                <a:ext cx="10414000" cy="2260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431800" y="342900"/>
              <a:ext cx="3302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264">
                  <a:solidFill>
                    <a:srgbClr val="2474E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EXPLORE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31800" y="942975"/>
              <a:ext cx="9017000" cy="10610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 b="1">
                  <a:solidFill>
                    <a:srgbClr val="10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Describe relationships, categories and distributions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2500" y="6572250"/>
            <a:ext cx="7810500" cy="1666875"/>
            <a:chOff x="0" y="0"/>
            <a:chExt cx="10414000" cy="2222500"/>
          </a:xfrm>
        </p:grpSpPr>
        <p:grpSp>
          <p:nvGrpSpPr>
            <p:cNvPr id="45" name="Group 45"/>
            <p:cNvGrpSpPr/>
            <p:nvPr/>
          </p:nvGrpSpPr>
          <p:grpSpPr>
            <a:xfrm>
              <a:off x="0" y="0"/>
              <a:ext cx="10414000" cy="2222500"/>
              <a:chOff x="0" y="0"/>
              <a:chExt cx="10414000" cy="22225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10414000" cy="2222500"/>
              </a:xfrm>
              <a:custGeom>
                <a:avLst/>
                <a:gdLst/>
                <a:ahLst/>
                <a:cxnLst/>
                <a:rect l="l" t="t" r="r" b="b"/>
                <a:pathLst>
                  <a:path w="10414000" h="22225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2222500"/>
                    </a:lnTo>
                    <a:lnTo>
                      <a:pt x="0" y="2222500"/>
                    </a:lnTo>
                    <a:close/>
                  </a:path>
                </a:pathLst>
              </a:custGeom>
              <a:solidFill>
                <a:srgbClr val="DFF5EC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0" y="-38100"/>
                <a:ext cx="10414000" cy="2260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8" name="TextBox 48"/>
            <p:cNvSpPr txBox="1"/>
            <p:nvPr/>
          </p:nvSpPr>
          <p:spPr>
            <a:xfrm>
              <a:off x="431800" y="342900"/>
              <a:ext cx="3302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264">
                  <a:solidFill>
                    <a:srgbClr val="2474E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MODULARISE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31800" y="942975"/>
              <a:ext cx="9017000" cy="5149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 b="1">
                  <a:solidFill>
                    <a:srgbClr val="10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Reusable Python functions for every plot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144000" y="6572250"/>
            <a:ext cx="7810500" cy="1666875"/>
            <a:chOff x="0" y="0"/>
            <a:chExt cx="10414000" cy="2222500"/>
          </a:xfrm>
        </p:grpSpPr>
        <p:grpSp>
          <p:nvGrpSpPr>
            <p:cNvPr id="51" name="Group 51"/>
            <p:cNvGrpSpPr/>
            <p:nvPr/>
          </p:nvGrpSpPr>
          <p:grpSpPr>
            <a:xfrm>
              <a:off x="0" y="0"/>
              <a:ext cx="10414000" cy="2222500"/>
              <a:chOff x="0" y="0"/>
              <a:chExt cx="10414000" cy="22225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10414000" cy="2222500"/>
              </a:xfrm>
              <a:custGeom>
                <a:avLst/>
                <a:gdLst/>
                <a:ahLst/>
                <a:cxnLst/>
                <a:rect l="l" t="t" r="r" b="b"/>
                <a:pathLst>
                  <a:path w="10414000" h="22225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2222500"/>
                    </a:lnTo>
                    <a:lnTo>
                      <a:pt x="0" y="2222500"/>
                    </a:lnTo>
                    <a:close/>
                  </a:path>
                </a:pathLst>
              </a:custGeom>
              <a:solidFill>
                <a:srgbClr val="DBEAFE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0" y="-38100"/>
                <a:ext cx="10414000" cy="2260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54" name="TextBox 54"/>
            <p:cNvSpPr txBox="1"/>
            <p:nvPr/>
          </p:nvSpPr>
          <p:spPr>
            <a:xfrm>
              <a:off x="431800" y="342900"/>
              <a:ext cx="3302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264">
                  <a:solidFill>
                    <a:srgbClr val="2474E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SYNTHESISE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31800" y="942975"/>
              <a:ext cx="9017000" cy="10610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 b="1">
                  <a:solidFill>
                    <a:srgbClr val="10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Summarise statistical findings and data limitations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2500" y="400050"/>
            <a:ext cx="16383000" cy="47625"/>
            <a:chOff x="0" y="0"/>
            <a:chExt cx="21844000" cy="63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844000" cy="63500"/>
            </a:xfrm>
            <a:custGeom>
              <a:avLst/>
              <a:gdLst/>
              <a:ahLst/>
              <a:cxnLst/>
              <a:rect l="l" t="t" r="r" b="b"/>
              <a:pathLst>
                <a:path w="21844000" h="63500">
                  <a:moveTo>
                    <a:pt x="0" y="0"/>
                  </a:moveTo>
                  <a:lnTo>
                    <a:pt x="21844000" y="0"/>
                  </a:lnTo>
                  <a:lnTo>
                    <a:pt x="2184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2474E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8440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2500" y="2476500"/>
            <a:ext cx="16383000" cy="5238750"/>
            <a:chOff x="0" y="0"/>
            <a:chExt cx="21844000" cy="6985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844000" cy="6985000"/>
            </a:xfrm>
            <a:custGeom>
              <a:avLst/>
              <a:gdLst/>
              <a:ahLst/>
              <a:cxnLst/>
              <a:rect l="l" t="t" r="r" b="b"/>
              <a:pathLst>
                <a:path w="21844000" h="6985000">
                  <a:moveTo>
                    <a:pt x="0" y="0"/>
                  </a:moveTo>
                  <a:lnTo>
                    <a:pt x="21844000" y="0"/>
                  </a:lnTo>
                  <a:lnTo>
                    <a:pt x="21844000" y="6985000"/>
                  </a:lnTo>
                  <a:lnTo>
                    <a:pt x="0" y="6985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1844000" cy="702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23950" y="2571750"/>
            <a:ext cx="16040100" cy="609600"/>
            <a:chOff x="0" y="0"/>
            <a:chExt cx="21386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386800" cy="812800"/>
            </a:xfrm>
            <a:custGeom>
              <a:avLst/>
              <a:gdLst/>
              <a:ahLst/>
              <a:cxnLst/>
              <a:rect l="l" t="t" r="r" b="b"/>
              <a:pathLst>
                <a:path w="21386800" h="812800">
                  <a:moveTo>
                    <a:pt x="0" y="0"/>
                  </a:moveTo>
                  <a:lnTo>
                    <a:pt x="21386800" y="0"/>
                  </a:lnTo>
                  <a:lnTo>
                    <a:pt x="21386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02B4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1386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" name="AutoShape 11"/>
          <p:cNvSpPr/>
          <p:nvPr/>
        </p:nvSpPr>
        <p:spPr>
          <a:xfrm>
            <a:off x="1181100" y="4000500"/>
            <a:ext cx="15925800" cy="0"/>
          </a:xfrm>
          <a:prstGeom prst="line">
            <a:avLst/>
          </a:prstGeom>
          <a:ln w="9525" cap="flat">
            <a:solidFill>
              <a:srgbClr val="D7E0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1181100" y="4781550"/>
            <a:ext cx="15925800" cy="0"/>
          </a:xfrm>
          <a:prstGeom prst="line">
            <a:avLst/>
          </a:prstGeom>
          <a:ln w="9525" cap="flat">
            <a:solidFill>
              <a:srgbClr val="D7E0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1181100" y="5562600"/>
            <a:ext cx="15925800" cy="0"/>
          </a:xfrm>
          <a:prstGeom prst="line">
            <a:avLst/>
          </a:prstGeom>
          <a:ln w="9525" cap="flat">
            <a:solidFill>
              <a:srgbClr val="D7E0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1181100" y="6343650"/>
            <a:ext cx="15925800" cy="0"/>
          </a:xfrm>
          <a:prstGeom prst="line">
            <a:avLst/>
          </a:prstGeom>
          <a:ln w="9525" cap="flat">
            <a:solidFill>
              <a:srgbClr val="D7E0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1181100" y="7124700"/>
            <a:ext cx="15925800" cy="0"/>
          </a:xfrm>
          <a:prstGeom prst="line">
            <a:avLst/>
          </a:prstGeom>
          <a:ln w="9525" cap="flat">
            <a:solidFill>
              <a:srgbClr val="D7E0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952500" y="571500"/>
            <a:ext cx="8572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264">
                <a:solidFill>
                  <a:srgbClr val="2474E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02 • DATA QUALITY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52500" y="1114425"/>
            <a:ext cx="14287500" cy="493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600" b="1">
                <a:solidFill>
                  <a:srgbClr val="10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Missingness is concentrated—not random noise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811500" y="695325"/>
            <a:ext cx="1524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5D6D8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03 / 12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81100" y="2638425"/>
            <a:ext cx="36576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FEATURE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181600" y="2638425"/>
            <a:ext cx="36576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COUNT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182100" y="2638425"/>
            <a:ext cx="21336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MISSING %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658600" y="2638425"/>
            <a:ext cx="18478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TREATMENT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81100" y="4227195"/>
            <a:ext cx="36576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Item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181600" y="3409950"/>
            <a:ext cx="36576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4,199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182100" y="3409950"/>
            <a:ext cx="21336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33.39%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658600" y="3409950"/>
            <a:ext cx="184785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Treat as False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81100" y="3460433"/>
            <a:ext cx="36576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Discount Applied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181600" y="4241482"/>
            <a:ext cx="36576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1,213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82100" y="4241482"/>
            <a:ext cx="21336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9.65%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658600" y="4241482"/>
            <a:ext cx="184785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Unspecified Item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81100" y="6534150"/>
            <a:ext cx="36576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IDs, category, payment, location, date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181600" y="6534150"/>
            <a:ext cx="36576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0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182100" y="6534150"/>
            <a:ext cx="21336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0.00%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658600" y="6534150"/>
            <a:ext cx="184785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Complete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52500" y="8058150"/>
            <a:ext cx="9334500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0A77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 exact duplicate rows  •  0 duplicate Transaction IDs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668000" y="8039100"/>
            <a:ext cx="6667500" cy="531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1650">
                <a:solidFill>
                  <a:srgbClr val="5D6D82"/>
                </a:solidFill>
                <a:latin typeface="Source Sans 3"/>
                <a:ea typeface="Source Sans 3"/>
                <a:cs typeface="Source Sans 3"/>
                <a:sym typeface="Source Sans 3"/>
              </a:rPr>
              <a:t>Transaction Date arrived as DD/MM/YYYY text and required explicit day-first parsing.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81100" y="5024438"/>
            <a:ext cx="36576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Price Per Unit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181600" y="5024438"/>
            <a:ext cx="36576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609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182100" y="5024438"/>
            <a:ext cx="21336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4.84%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658600" y="5024438"/>
            <a:ext cx="184785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Recover by division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4128126" y="5053965"/>
            <a:ext cx="2716014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PRICE = TOTAL SPENT ÷ QUANTITY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81100" y="5757862"/>
            <a:ext cx="36576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Quantity &amp; Total Spent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181600" y="5757862"/>
            <a:ext cx="36576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604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182100" y="5757862"/>
            <a:ext cx="21336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4.80%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658600" y="5757862"/>
            <a:ext cx="2171531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Drop incomplete rows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7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571500"/>
            <a:ext cx="8572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264">
                <a:solidFill>
                  <a:srgbClr val="2474E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03 • METHODOLOGY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2500" y="1114425"/>
            <a:ext cx="14287500" cy="493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600" b="1">
                <a:solidFill>
                  <a:srgbClr val="10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defensible five-step cleaning pipeline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811500" y="695325"/>
            <a:ext cx="1524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5D6D8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04 / 12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52500" y="400050"/>
            <a:ext cx="16383000" cy="47625"/>
            <a:chOff x="0" y="0"/>
            <a:chExt cx="21844000" cy="635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844000" cy="63500"/>
            </a:xfrm>
            <a:custGeom>
              <a:avLst/>
              <a:gdLst/>
              <a:ahLst/>
              <a:cxnLst/>
              <a:rect l="l" t="t" r="r" b="b"/>
              <a:pathLst>
                <a:path w="21844000" h="63500">
                  <a:moveTo>
                    <a:pt x="0" y="0"/>
                  </a:moveTo>
                  <a:lnTo>
                    <a:pt x="21844000" y="0"/>
                  </a:lnTo>
                  <a:lnTo>
                    <a:pt x="2184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2474E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18440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2500" y="2724150"/>
            <a:ext cx="2990850" cy="2762250"/>
            <a:chOff x="0" y="0"/>
            <a:chExt cx="3987800" cy="3683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3987800" cy="3683000"/>
              <a:chOff x="0" y="0"/>
              <a:chExt cx="3987800" cy="3683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3987800" cy="3683000"/>
              </a:xfrm>
              <a:custGeom>
                <a:avLst/>
                <a:gdLst/>
                <a:ahLst/>
                <a:cxnLst/>
                <a:rect l="l" t="t" r="r" b="b"/>
                <a:pathLst>
                  <a:path w="3987800" h="3683000">
                    <a:moveTo>
                      <a:pt x="0" y="0"/>
                    </a:moveTo>
                    <a:lnTo>
                      <a:pt x="3987800" y="0"/>
                    </a:lnTo>
                    <a:lnTo>
                      <a:pt x="39878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3987800" cy="372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0"/>
              <a:ext cx="3987800" cy="101600"/>
              <a:chOff x="0" y="0"/>
              <a:chExt cx="3987800" cy="1016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39878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3987800" h="101600">
                    <a:moveTo>
                      <a:pt x="0" y="0"/>
                    </a:moveTo>
                    <a:lnTo>
                      <a:pt x="3987800" y="0"/>
                    </a:lnTo>
                    <a:lnTo>
                      <a:pt x="3987800" y="101600"/>
                    </a:lnTo>
                    <a:lnTo>
                      <a:pt x="0" y="101600"/>
                    </a:lnTo>
                    <a:close/>
                  </a:path>
                </a:pathLst>
              </a:custGeom>
              <a:solidFill>
                <a:srgbClr val="2474E5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3987800" cy="139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355600" y="368300"/>
              <a:ext cx="1016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2474E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55600" y="1155700"/>
              <a:ext cx="3429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>
                  <a:solidFill>
                    <a:srgbClr val="10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RECOVER PRICE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55600" y="1901825"/>
              <a:ext cx="3429000" cy="7232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5D6D82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Total Spent ÷ Quantity</a:t>
              </a:r>
            </a:p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5D6D82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for 609 rows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>
            <a:off x="3943350" y="4105275"/>
            <a:ext cx="228600" cy="0"/>
          </a:xfrm>
          <a:prstGeom prst="line">
            <a:avLst/>
          </a:prstGeom>
          <a:ln w="38100" cap="flat">
            <a:solidFill>
              <a:srgbClr val="2474E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4229100" y="2724150"/>
            <a:ext cx="2990850" cy="2762250"/>
            <a:chOff x="0" y="0"/>
            <a:chExt cx="3987800" cy="3683000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3987800" cy="3683000"/>
              <a:chOff x="0" y="0"/>
              <a:chExt cx="3987800" cy="36830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3987800" cy="3683000"/>
              </a:xfrm>
              <a:custGeom>
                <a:avLst/>
                <a:gdLst/>
                <a:ahLst/>
                <a:cxnLst/>
                <a:rect l="l" t="t" r="r" b="b"/>
                <a:pathLst>
                  <a:path w="3987800" h="3683000">
                    <a:moveTo>
                      <a:pt x="0" y="0"/>
                    </a:moveTo>
                    <a:lnTo>
                      <a:pt x="3987800" y="0"/>
                    </a:lnTo>
                    <a:lnTo>
                      <a:pt x="39878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3987800" cy="372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0" y="0"/>
              <a:ext cx="3987800" cy="101600"/>
              <a:chOff x="0" y="0"/>
              <a:chExt cx="3987800" cy="1016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39878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3987800" h="101600">
                    <a:moveTo>
                      <a:pt x="0" y="0"/>
                    </a:moveTo>
                    <a:lnTo>
                      <a:pt x="3987800" y="0"/>
                    </a:lnTo>
                    <a:lnTo>
                      <a:pt x="3987800" y="101600"/>
                    </a:lnTo>
                    <a:lnTo>
                      <a:pt x="0" y="101600"/>
                    </a:lnTo>
                    <a:close/>
                  </a:path>
                </a:pathLst>
              </a:custGeom>
              <a:solidFill>
                <a:srgbClr val="2474E5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3987800" cy="139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355600" y="368300"/>
              <a:ext cx="1016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2474E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5600" y="1155700"/>
              <a:ext cx="3429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10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NORMALISE DISCOUNT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5600" y="1901825"/>
              <a:ext cx="3429000" cy="7232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5D6D82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NaN → False</a:t>
              </a:r>
            </a:p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5D6D82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for 4,199 rows</a:t>
              </a:r>
            </a:p>
          </p:txBody>
        </p:sp>
      </p:grpSp>
      <p:sp>
        <p:nvSpPr>
          <p:cNvPr id="29" name="AutoShape 29"/>
          <p:cNvSpPr/>
          <p:nvPr/>
        </p:nvSpPr>
        <p:spPr>
          <a:xfrm>
            <a:off x="7219950" y="4105275"/>
            <a:ext cx="228600" cy="0"/>
          </a:xfrm>
          <a:prstGeom prst="line">
            <a:avLst/>
          </a:prstGeom>
          <a:ln w="38100" cap="flat">
            <a:solidFill>
              <a:srgbClr val="2474E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0" name="Group 30"/>
          <p:cNvGrpSpPr/>
          <p:nvPr/>
        </p:nvGrpSpPr>
        <p:grpSpPr>
          <a:xfrm>
            <a:off x="7505700" y="2724150"/>
            <a:ext cx="2990850" cy="2762250"/>
            <a:chOff x="0" y="0"/>
            <a:chExt cx="3987800" cy="3683000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0"/>
              <a:ext cx="3987800" cy="3683000"/>
              <a:chOff x="0" y="0"/>
              <a:chExt cx="3987800" cy="36830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3987800" cy="3683000"/>
              </a:xfrm>
              <a:custGeom>
                <a:avLst/>
                <a:gdLst/>
                <a:ahLst/>
                <a:cxnLst/>
                <a:rect l="l" t="t" r="r" b="b"/>
                <a:pathLst>
                  <a:path w="3987800" h="3683000">
                    <a:moveTo>
                      <a:pt x="0" y="0"/>
                    </a:moveTo>
                    <a:lnTo>
                      <a:pt x="3987800" y="0"/>
                    </a:lnTo>
                    <a:lnTo>
                      <a:pt x="39878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3987800" cy="372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0" y="0"/>
              <a:ext cx="3987800" cy="101600"/>
              <a:chOff x="0" y="0"/>
              <a:chExt cx="3987800" cy="1016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39878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3987800" h="101600">
                    <a:moveTo>
                      <a:pt x="0" y="0"/>
                    </a:moveTo>
                    <a:lnTo>
                      <a:pt x="3987800" y="0"/>
                    </a:lnTo>
                    <a:lnTo>
                      <a:pt x="3987800" y="101600"/>
                    </a:lnTo>
                    <a:lnTo>
                      <a:pt x="0" y="101600"/>
                    </a:lnTo>
                    <a:close/>
                  </a:path>
                </a:pathLst>
              </a:custGeom>
              <a:solidFill>
                <a:srgbClr val="2474E5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38100"/>
                <a:ext cx="3987800" cy="139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355600" y="368300"/>
              <a:ext cx="1016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2474E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55600" y="1155700"/>
              <a:ext cx="3429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>
                  <a:solidFill>
                    <a:srgbClr val="10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LABEL ITEMS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55600" y="1901825"/>
              <a:ext cx="3429000" cy="7232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5D6D82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Missing names →</a:t>
              </a:r>
            </a:p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5D6D82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“Unspecified Item”</a:t>
              </a:r>
            </a:p>
          </p:txBody>
        </p:sp>
      </p:grpSp>
      <p:sp>
        <p:nvSpPr>
          <p:cNvPr id="40" name="AutoShape 40"/>
          <p:cNvSpPr/>
          <p:nvPr/>
        </p:nvSpPr>
        <p:spPr>
          <a:xfrm>
            <a:off x="10496550" y="4105275"/>
            <a:ext cx="228600" cy="0"/>
          </a:xfrm>
          <a:prstGeom prst="line">
            <a:avLst/>
          </a:prstGeom>
          <a:ln w="38100" cap="flat">
            <a:solidFill>
              <a:srgbClr val="2474E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1" name="Group 41"/>
          <p:cNvGrpSpPr/>
          <p:nvPr/>
        </p:nvGrpSpPr>
        <p:grpSpPr>
          <a:xfrm>
            <a:off x="10782300" y="2724150"/>
            <a:ext cx="2990850" cy="2762250"/>
            <a:chOff x="0" y="0"/>
            <a:chExt cx="3987800" cy="3683000"/>
          </a:xfrm>
        </p:grpSpPr>
        <p:grpSp>
          <p:nvGrpSpPr>
            <p:cNvPr id="42" name="Group 42"/>
            <p:cNvGrpSpPr/>
            <p:nvPr/>
          </p:nvGrpSpPr>
          <p:grpSpPr>
            <a:xfrm>
              <a:off x="0" y="0"/>
              <a:ext cx="3987800" cy="3683000"/>
              <a:chOff x="0" y="0"/>
              <a:chExt cx="3987800" cy="36830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3987800" cy="3683000"/>
              </a:xfrm>
              <a:custGeom>
                <a:avLst/>
                <a:gdLst/>
                <a:ahLst/>
                <a:cxnLst/>
                <a:rect l="l" t="t" r="r" b="b"/>
                <a:pathLst>
                  <a:path w="3987800" h="3683000">
                    <a:moveTo>
                      <a:pt x="0" y="0"/>
                    </a:moveTo>
                    <a:lnTo>
                      <a:pt x="3987800" y="0"/>
                    </a:lnTo>
                    <a:lnTo>
                      <a:pt x="39878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0" y="-38100"/>
                <a:ext cx="3987800" cy="372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0" y="0"/>
              <a:ext cx="3987800" cy="101600"/>
              <a:chOff x="0" y="0"/>
              <a:chExt cx="3987800" cy="1016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39878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3987800" h="101600">
                    <a:moveTo>
                      <a:pt x="0" y="0"/>
                    </a:moveTo>
                    <a:lnTo>
                      <a:pt x="3987800" y="0"/>
                    </a:lnTo>
                    <a:lnTo>
                      <a:pt x="3987800" y="101600"/>
                    </a:lnTo>
                    <a:lnTo>
                      <a:pt x="0" y="101600"/>
                    </a:lnTo>
                    <a:close/>
                  </a:path>
                </a:pathLst>
              </a:custGeom>
              <a:solidFill>
                <a:srgbClr val="2474E5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0" y="-38100"/>
                <a:ext cx="3987800" cy="139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8" name="TextBox 48"/>
            <p:cNvSpPr txBox="1"/>
            <p:nvPr/>
          </p:nvSpPr>
          <p:spPr>
            <a:xfrm>
              <a:off x="355600" y="368300"/>
              <a:ext cx="1016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2474E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55600" y="1155700"/>
              <a:ext cx="3429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>
                  <a:solidFill>
                    <a:srgbClr val="10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PARSE TIME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55600" y="1901825"/>
              <a:ext cx="3429000" cy="7232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5D6D82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dayfirst=True; derive</a:t>
              </a:r>
            </a:p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5D6D82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Year + YearMonth</a:t>
              </a:r>
            </a:p>
          </p:txBody>
        </p:sp>
      </p:grpSp>
      <p:sp>
        <p:nvSpPr>
          <p:cNvPr id="51" name="AutoShape 51"/>
          <p:cNvSpPr/>
          <p:nvPr/>
        </p:nvSpPr>
        <p:spPr>
          <a:xfrm>
            <a:off x="13773150" y="4105275"/>
            <a:ext cx="228600" cy="0"/>
          </a:xfrm>
          <a:prstGeom prst="line">
            <a:avLst/>
          </a:prstGeom>
          <a:ln w="38100" cap="flat">
            <a:solidFill>
              <a:srgbClr val="2474E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52" name="Group 52"/>
          <p:cNvGrpSpPr/>
          <p:nvPr/>
        </p:nvGrpSpPr>
        <p:grpSpPr>
          <a:xfrm>
            <a:off x="14058900" y="2724150"/>
            <a:ext cx="2990850" cy="2762250"/>
            <a:chOff x="0" y="0"/>
            <a:chExt cx="3987800" cy="3683000"/>
          </a:xfrm>
        </p:grpSpPr>
        <p:grpSp>
          <p:nvGrpSpPr>
            <p:cNvPr id="53" name="Group 53"/>
            <p:cNvGrpSpPr/>
            <p:nvPr/>
          </p:nvGrpSpPr>
          <p:grpSpPr>
            <a:xfrm>
              <a:off x="0" y="0"/>
              <a:ext cx="3987800" cy="3683000"/>
              <a:chOff x="0" y="0"/>
              <a:chExt cx="3987800" cy="36830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3987800" cy="3683000"/>
              </a:xfrm>
              <a:custGeom>
                <a:avLst/>
                <a:gdLst/>
                <a:ahLst/>
                <a:cxnLst/>
                <a:rect l="l" t="t" r="r" b="b"/>
                <a:pathLst>
                  <a:path w="3987800" h="3683000">
                    <a:moveTo>
                      <a:pt x="0" y="0"/>
                    </a:moveTo>
                    <a:lnTo>
                      <a:pt x="3987800" y="0"/>
                    </a:lnTo>
                    <a:lnTo>
                      <a:pt x="39878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0" y="-38100"/>
                <a:ext cx="3987800" cy="372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0" y="0"/>
              <a:ext cx="3987800" cy="101600"/>
              <a:chOff x="0" y="0"/>
              <a:chExt cx="3987800" cy="10160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39878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3987800" h="101600">
                    <a:moveTo>
                      <a:pt x="0" y="0"/>
                    </a:moveTo>
                    <a:lnTo>
                      <a:pt x="3987800" y="0"/>
                    </a:lnTo>
                    <a:lnTo>
                      <a:pt x="3987800" y="101600"/>
                    </a:lnTo>
                    <a:lnTo>
                      <a:pt x="0" y="101600"/>
                    </a:lnTo>
                    <a:close/>
                  </a:path>
                </a:pathLst>
              </a:custGeom>
              <a:solidFill>
                <a:srgbClr val="20A77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0" y="-38100"/>
                <a:ext cx="3987800" cy="139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59" name="TextBox 59"/>
            <p:cNvSpPr txBox="1"/>
            <p:nvPr/>
          </p:nvSpPr>
          <p:spPr>
            <a:xfrm>
              <a:off x="355600" y="368300"/>
              <a:ext cx="1016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2474E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05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355600" y="1155700"/>
              <a:ext cx="3429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>
                  <a:solidFill>
                    <a:srgbClr val="10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FILTER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55600" y="1901825"/>
              <a:ext cx="3429000" cy="7232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5D6D82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Drop 604 rows missing</a:t>
              </a:r>
            </a:p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5D6D82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Total Spent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952500" y="6191250"/>
            <a:ext cx="16383000" cy="2476500"/>
            <a:chOff x="0" y="0"/>
            <a:chExt cx="21844000" cy="3302000"/>
          </a:xfrm>
        </p:grpSpPr>
        <p:grpSp>
          <p:nvGrpSpPr>
            <p:cNvPr id="63" name="Group 63"/>
            <p:cNvGrpSpPr/>
            <p:nvPr/>
          </p:nvGrpSpPr>
          <p:grpSpPr>
            <a:xfrm>
              <a:off x="0" y="0"/>
              <a:ext cx="21844000" cy="3302000"/>
              <a:chOff x="0" y="0"/>
              <a:chExt cx="21844000" cy="330200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0" y="0"/>
                <a:ext cx="21844000" cy="3302000"/>
              </a:xfrm>
              <a:custGeom>
                <a:avLst/>
                <a:gdLst/>
                <a:ahLst/>
                <a:cxnLst/>
                <a:rect l="l" t="t" r="r" b="b"/>
                <a:pathLst>
                  <a:path w="21844000" h="3302000">
                    <a:moveTo>
                      <a:pt x="0" y="0"/>
                    </a:moveTo>
                    <a:lnTo>
                      <a:pt x="21844000" y="0"/>
                    </a:lnTo>
                    <a:lnTo>
                      <a:pt x="21844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102B4E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0" y="-38100"/>
                <a:ext cx="21844000" cy="334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66" name="TextBox 66"/>
            <p:cNvSpPr txBox="1"/>
            <p:nvPr/>
          </p:nvSpPr>
          <p:spPr>
            <a:xfrm>
              <a:off x="1016000" y="307975"/>
              <a:ext cx="5461000" cy="14293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030"/>
                </a:lnSpc>
              </a:pPr>
              <a:r>
                <a:rPr lang="en-US" sz="645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11,971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16000" y="1841500"/>
              <a:ext cx="5461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264">
                  <a:solidFill>
                    <a:srgbClr val="9FC0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CLEAN TRANSACTIONS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874000" y="1063625"/>
              <a:ext cx="11430000" cy="739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725"/>
                </a:lnSpc>
              </a:pPr>
              <a:r>
                <a:rPr lang="en-US" sz="3375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13 columns  •  no missing values</a:t>
              </a:r>
            </a:p>
          </p:txBody>
        </p:sp>
      </p:grp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9" grpId="0" animBg="1"/>
      <p:bldP spid="40" grpId="0" animBg="1"/>
      <p:bldP spid="5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571500"/>
            <a:ext cx="8572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264">
                <a:solidFill>
                  <a:srgbClr val="2474E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04 • SUMMARY DASHBOARD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2500" y="1114425"/>
            <a:ext cx="14287500" cy="493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600" b="1">
                <a:solidFill>
                  <a:srgbClr val="10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Performance is broad-based across categories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811500" y="695325"/>
            <a:ext cx="1524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5D6D8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05 / 12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52500" y="400050"/>
            <a:ext cx="16383000" cy="47625"/>
            <a:chOff x="0" y="0"/>
            <a:chExt cx="21844000" cy="635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844000" cy="63500"/>
            </a:xfrm>
            <a:custGeom>
              <a:avLst/>
              <a:gdLst/>
              <a:ahLst/>
              <a:cxnLst/>
              <a:rect l="l" t="t" r="r" b="b"/>
              <a:pathLst>
                <a:path w="21844000" h="63500">
                  <a:moveTo>
                    <a:pt x="0" y="0"/>
                  </a:moveTo>
                  <a:lnTo>
                    <a:pt x="21844000" y="0"/>
                  </a:lnTo>
                  <a:lnTo>
                    <a:pt x="2184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2474E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18440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2500" y="2095500"/>
            <a:ext cx="5172075" cy="1428750"/>
            <a:chOff x="0" y="0"/>
            <a:chExt cx="6896100" cy="1905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6896100" cy="1905000"/>
              <a:chOff x="0" y="0"/>
              <a:chExt cx="6896100" cy="1905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896100" cy="1905000"/>
              </a:xfrm>
              <a:custGeom>
                <a:avLst/>
                <a:gdLst/>
                <a:ahLst/>
                <a:cxnLst/>
                <a:rect l="l" t="t" r="r" b="b"/>
                <a:pathLst>
                  <a:path w="6896100" h="1905000">
                    <a:moveTo>
                      <a:pt x="0" y="0"/>
                    </a:moveTo>
                    <a:lnTo>
                      <a:pt x="6896100" y="0"/>
                    </a:lnTo>
                    <a:lnTo>
                      <a:pt x="68961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DBEAFE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6896100" cy="194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406400" y="228600"/>
              <a:ext cx="6350000" cy="924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880"/>
                </a:lnSpc>
              </a:pPr>
              <a:r>
                <a:rPr lang="en-US" sz="4200" b="1">
                  <a:solidFill>
                    <a:srgbClr val="2474E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$129.65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6400" y="1250950"/>
              <a:ext cx="6350000" cy="3467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 b="1">
                  <a:solidFill>
                    <a:srgbClr val="5D6D82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MEAN ORDER SPEND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410325" y="2095500"/>
            <a:ext cx="5172075" cy="1428750"/>
            <a:chOff x="0" y="0"/>
            <a:chExt cx="6896100" cy="1905000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6896100" cy="1905000"/>
              <a:chOff x="0" y="0"/>
              <a:chExt cx="6896100" cy="1905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6896100" cy="1905000"/>
              </a:xfrm>
              <a:custGeom>
                <a:avLst/>
                <a:gdLst/>
                <a:ahLst/>
                <a:cxnLst/>
                <a:rect l="l" t="t" r="r" b="b"/>
                <a:pathLst>
                  <a:path w="6896100" h="1905000">
                    <a:moveTo>
                      <a:pt x="0" y="0"/>
                    </a:moveTo>
                    <a:lnTo>
                      <a:pt x="6896100" y="0"/>
                    </a:lnTo>
                    <a:lnTo>
                      <a:pt x="68961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DFF5EC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6896100" cy="194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406400" y="228600"/>
              <a:ext cx="6350000" cy="924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880"/>
                </a:lnSpc>
              </a:pPr>
              <a:r>
                <a:rPr lang="en-US" sz="4200" b="1">
                  <a:solidFill>
                    <a:srgbClr val="20A77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$94.75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6400" y="1250950"/>
              <a:ext cx="6350000" cy="3467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 b="1">
                  <a:solidFill>
                    <a:srgbClr val="5D6D82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SAMPLE STANDARD DEVIATION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868150" y="2095500"/>
            <a:ext cx="5172075" cy="1428750"/>
            <a:chOff x="0" y="0"/>
            <a:chExt cx="6896100" cy="1905000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6896100" cy="1905000"/>
              <a:chOff x="0" y="0"/>
              <a:chExt cx="6896100" cy="1905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6896100" cy="1905000"/>
              </a:xfrm>
              <a:custGeom>
                <a:avLst/>
                <a:gdLst/>
                <a:ahLst/>
                <a:cxnLst/>
                <a:rect l="l" t="t" r="r" b="b"/>
                <a:pathLst>
                  <a:path w="6896100" h="1905000">
                    <a:moveTo>
                      <a:pt x="0" y="0"/>
                    </a:moveTo>
                    <a:lnTo>
                      <a:pt x="6896100" y="0"/>
                    </a:lnTo>
                    <a:lnTo>
                      <a:pt x="68961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E8EDF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6896100" cy="194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406400" y="228600"/>
              <a:ext cx="6350000" cy="924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880"/>
                </a:lnSpc>
              </a:pPr>
              <a:r>
                <a:rPr lang="en-US" sz="4200" b="1">
                  <a:solidFill>
                    <a:srgbClr val="102B4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5.54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06400" y="1250950"/>
              <a:ext cx="6350000" cy="3467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 b="1">
                  <a:solidFill>
                    <a:srgbClr val="5D6D82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AVERAGE BASKET SIZE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2500" y="4000500"/>
            <a:ext cx="16383000" cy="5181600"/>
            <a:chOff x="0" y="0"/>
            <a:chExt cx="21844000" cy="6908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1844000" cy="6908800"/>
            </a:xfrm>
            <a:custGeom>
              <a:avLst/>
              <a:gdLst/>
              <a:ahLst/>
              <a:cxnLst/>
              <a:rect l="l" t="t" r="r" b="b"/>
              <a:pathLst>
                <a:path w="21844000" h="6908800">
                  <a:moveTo>
                    <a:pt x="0" y="0"/>
                  </a:moveTo>
                  <a:lnTo>
                    <a:pt x="21844000" y="0"/>
                  </a:lnTo>
                  <a:lnTo>
                    <a:pt x="21844000" y="6908800"/>
                  </a:lnTo>
                  <a:lnTo>
                    <a:pt x="0" y="69088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21844000" cy="694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04900" y="4152900"/>
            <a:ext cx="16078200" cy="495300"/>
            <a:chOff x="0" y="0"/>
            <a:chExt cx="21437600" cy="6604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1437600" cy="660400"/>
            </a:xfrm>
            <a:custGeom>
              <a:avLst/>
              <a:gdLst/>
              <a:ahLst/>
              <a:cxnLst/>
              <a:rect l="l" t="t" r="r" b="b"/>
              <a:pathLst>
                <a:path w="21437600" h="660400">
                  <a:moveTo>
                    <a:pt x="0" y="0"/>
                  </a:moveTo>
                  <a:lnTo>
                    <a:pt x="21437600" y="0"/>
                  </a:lnTo>
                  <a:lnTo>
                    <a:pt x="21437600" y="660400"/>
                  </a:lnTo>
                  <a:lnTo>
                    <a:pt x="0" y="660400"/>
                  </a:lnTo>
                  <a:close/>
                </a:path>
              </a:pathLst>
            </a:custGeom>
            <a:solidFill>
              <a:srgbClr val="102B4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214376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238250" y="4238625"/>
            <a:ext cx="72390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CATEGORY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048750" y="4238625"/>
            <a:ext cx="219075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TRANSACTIONS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572875" y="4238625"/>
            <a:ext cx="2476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TOTAL REVENUE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382750" y="4238625"/>
            <a:ext cx="238125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AVG SPEND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38250" y="4810125"/>
            <a:ext cx="7239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Butchers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048750" y="4810125"/>
            <a:ext cx="2190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1,496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572875" y="4810125"/>
            <a:ext cx="2476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$208,118.00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4382750" y="4810125"/>
            <a:ext cx="23812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$139.12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38250" y="5324475"/>
            <a:ext cx="7239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Electric Household Essentials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048750" y="5324475"/>
            <a:ext cx="2190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1,516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572875" y="5324475"/>
            <a:ext cx="2476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$203,813.50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4382750" y="5324475"/>
            <a:ext cx="23812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$134.44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238250" y="5838825"/>
            <a:ext cx="7239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Beverages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048750" y="5838825"/>
            <a:ext cx="2190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1,496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572875" y="5838825"/>
            <a:ext cx="2476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$197,047.50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4382750" y="5838825"/>
            <a:ext cx="23812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$131.72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238250" y="6353175"/>
            <a:ext cx="7239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Furniture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048750" y="6353175"/>
            <a:ext cx="2190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1,525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572875" y="6353175"/>
            <a:ext cx="2476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$195,310.00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4382750" y="6353175"/>
            <a:ext cx="23812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$128.07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238250" y="6867525"/>
            <a:ext cx="7239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Food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048750" y="6867525"/>
            <a:ext cx="2190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1,507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572875" y="6867525"/>
            <a:ext cx="2476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$194,812.00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4382750" y="6867525"/>
            <a:ext cx="23812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$129.27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238250" y="7381875"/>
            <a:ext cx="7239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Computers &amp; Electric Accessories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048750" y="7381875"/>
            <a:ext cx="2190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1,477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1572875" y="7381875"/>
            <a:ext cx="2476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$190,692.50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4382750" y="7381875"/>
            <a:ext cx="23812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$129.11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238250" y="7896225"/>
            <a:ext cx="7239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Patisserie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048750" y="7896225"/>
            <a:ext cx="2190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1,441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572875" y="7896225"/>
            <a:ext cx="2476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$182,165.50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4382750" y="7896225"/>
            <a:ext cx="23812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$126.42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238250" y="8410575"/>
            <a:ext cx="7239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Milk Products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9048750" y="8410575"/>
            <a:ext cx="2190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1,513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1572875" y="8410575"/>
            <a:ext cx="2476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$180,112.00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4382750" y="8410575"/>
            <a:ext cx="23812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$119.04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571500"/>
            <a:ext cx="8572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264">
                <a:solidFill>
                  <a:srgbClr val="2474E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05 • RELATIONAL ANALYSIS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2500" y="1114425"/>
            <a:ext cx="14287500" cy="493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600" b="1">
                <a:solidFill>
                  <a:srgbClr val="10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Quantity is the primary spend driver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811500" y="695325"/>
            <a:ext cx="1524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5D6D8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06 / 12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52500" y="400050"/>
            <a:ext cx="16383000" cy="47625"/>
            <a:chOff x="0" y="0"/>
            <a:chExt cx="21844000" cy="635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844000" cy="63500"/>
            </a:xfrm>
            <a:custGeom>
              <a:avLst/>
              <a:gdLst/>
              <a:ahLst/>
              <a:cxnLst/>
              <a:rect l="l" t="t" r="r" b="b"/>
              <a:pathLst>
                <a:path w="21844000" h="63500">
                  <a:moveTo>
                    <a:pt x="0" y="0"/>
                  </a:moveTo>
                  <a:lnTo>
                    <a:pt x="21844000" y="0"/>
                  </a:lnTo>
                  <a:lnTo>
                    <a:pt x="2184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2474E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18440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952500" y="2381250"/>
            <a:ext cx="10668000" cy="6400800"/>
          </a:xfrm>
          <a:custGeom>
            <a:avLst/>
            <a:gdLst/>
            <a:ahLst/>
            <a:cxnLst/>
            <a:rect l="l" t="t" r="r" b="b"/>
            <a:pathLst>
              <a:path w="10668000" h="6400800">
                <a:moveTo>
                  <a:pt x="0" y="0"/>
                </a:moveTo>
                <a:lnTo>
                  <a:pt x="10668000" y="0"/>
                </a:lnTo>
                <a:lnTo>
                  <a:pt x="10668000" y="6400800"/>
                </a:lnTo>
                <a:lnTo>
                  <a:pt x="0" y="6400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2096750" y="2381250"/>
            <a:ext cx="5238750" cy="6400800"/>
            <a:chOff x="0" y="0"/>
            <a:chExt cx="6985000" cy="853440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6985000" cy="8534400"/>
              <a:chOff x="0" y="0"/>
              <a:chExt cx="6985000" cy="85344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985000" cy="8534400"/>
              </a:xfrm>
              <a:custGeom>
                <a:avLst/>
                <a:gdLst/>
                <a:ahLst/>
                <a:cxnLst/>
                <a:rect l="l" t="t" r="r" b="b"/>
                <a:pathLst>
                  <a:path w="6985000" h="8534400">
                    <a:moveTo>
                      <a:pt x="0" y="0"/>
                    </a:moveTo>
                    <a:lnTo>
                      <a:pt x="6985000" y="0"/>
                    </a:lnTo>
                    <a:lnTo>
                      <a:pt x="6985000" y="8534400"/>
                    </a:lnTo>
                    <a:lnTo>
                      <a:pt x="0" y="85344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6985000" cy="8572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0" y="0"/>
              <a:ext cx="127000" cy="8534400"/>
              <a:chOff x="0" y="0"/>
              <a:chExt cx="127000" cy="85344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27000" cy="85344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8534400">
                    <a:moveTo>
                      <a:pt x="0" y="0"/>
                    </a:moveTo>
                    <a:lnTo>
                      <a:pt x="127000" y="0"/>
                    </a:lnTo>
                    <a:lnTo>
                      <a:pt x="127000" y="8534400"/>
                    </a:lnTo>
                    <a:lnTo>
                      <a:pt x="0" y="8534400"/>
                    </a:lnTo>
                    <a:close/>
                  </a:path>
                </a:pathLst>
              </a:custGeom>
              <a:solidFill>
                <a:srgbClr val="2474E5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27000" cy="8572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508000" y="457200"/>
              <a:ext cx="5461000" cy="9575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90"/>
                </a:lnSpc>
              </a:pPr>
              <a:r>
                <a:rPr lang="en-US" sz="4350" b="1">
                  <a:solidFill>
                    <a:srgbClr val="2474E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 = +0.712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08000" y="1485900"/>
              <a:ext cx="5461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264">
                  <a:solidFill>
                    <a:srgbClr val="2474E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STRONG POSITIVE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08000" y="2613025"/>
              <a:ext cx="5588000" cy="2914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0233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• Discrete quantities 1–10 create fan-shaped vertical columns</a:t>
              </a:r>
            </a:p>
            <a:p>
              <a:pPr algn="l">
                <a:lnSpc>
                  <a:spcPts val="2531"/>
                </a:lnSpc>
              </a:pPr>
              <a:endParaRPr lang="en-US" sz="1875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0233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• Unit price controls the vertical range at each quantity</a:t>
              </a:r>
            </a:p>
            <a:p>
              <a:pPr algn="l">
                <a:lnSpc>
                  <a:spcPts val="2531"/>
                </a:lnSpc>
              </a:pPr>
              <a:endParaRPr lang="en-US" sz="1875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0233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• Price per unit vs quantity: r = +0.010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571500"/>
            <a:ext cx="8572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264">
                <a:solidFill>
                  <a:srgbClr val="2474E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06 • CATEGORICAL ANALYSIS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2500" y="1114425"/>
            <a:ext cx="14287500" cy="493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600" b="1">
                <a:solidFill>
                  <a:srgbClr val="10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Omnichannel parity spans every category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811500" y="695325"/>
            <a:ext cx="1524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5D6D8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07 / 12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52500" y="400050"/>
            <a:ext cx="16383000" cy="47625"/>
            <a:chOff x="0" y="0"/>
            <a:chExt cx="21844000" cy="635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844000" cy="63500"/>
            </a:xfrm>
            <a:custGeom>
              <a:avLst/>
              <a:gdLst/>
              <a:ahLst/>
              <a:cxnLst/>
              <a:rect l="l" t="t" r="r" b="b"/>
              <a:pathLst>
                <a:path w="21844000" h="63500">
                  <a:moveTo>
                    <a:pt x="0" y="0"/>
                  </a:moveTo>
                  <a:lnTo>
                    <a:pt x="21844000" y="0"/>
                  </a:lnTo>
                  <a:lnTo>
                    <a:pt x="2184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2474E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18440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952500" y="2552700"/>
            <a:ext cx="10763250" cy="5381625"/>
          </a:xfrm>
          <a:custGeom>
            <a:avLst/>
            <a:gdLst/>
            <a:ahLst/>
            <a:cxnLst/>
            <a:rect l="l" t="t" r="r" b="b"/>
            <a:pathLst>
              <a:path w="10763250" h="5381625">
                <a:moveTo>
                  <a:pt x="0" y="0"/>
                </a:moveTo>
                <a:lnTo>
                  <a:pt x="10763250" y="0"/>
                </a:lnTo>
                <a:lnTo>
                  <a:pt x="10763250" y="5381625"/>
                </a:lnTo>
                <a:lnTo>
                  <a:pt x="0" y="5381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2096750" y="2381250"/>
            <a:ext cx="5238750" cy="5905500"/>
            <a:chOff x="0" y="0"/>
            <a:chExt cx="6985000" cy="787400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6985000" cy="7874000"/>
              <a:chOff x="0" y="0"/>
              <a:chExt cx="6985000" cy="7874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985000" cy="7874000"/>
              </a:xfrm>
              <a:custGeom>
                <a:avLst/>
                <a:gdLst/>
                <a:ahLst/>
                <a:cxnLst/>
                <a:rect l="l" t="t" r="r" b="b"/>
                <a:pathLst>
                  <a:path w="6985000" h="7874000">
                    <a:moveTo>
                      <a:pt x="0" y="0"/>
                    </a:moveTo>
                    <a:lnTo>
                      <a:pt x="6985000" y="0"/>
                    </a:lnTo>
                    <a:lnTo>
                      <a:pt x="6985000" y="7874000"/>
                    </a:lnTo>
                    <a:lnTo>
                      <a:pt x="0" y="7874000"/>
                    </a:lnTo>
                    <a:close/>
                  </a:path>
                </a:pathLst>
              </a:custGeom>
              <a:solidFill>
                <a:srgbClr val="DFF5EC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6985000" cy="791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635000" y="396875"/>
              <a:ext cx="5334000" cy="10204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509"/>
                </a:lnSpc>
              </a:pPr>
              <a:r>
                <a:rPr lang="en-US" sz="4650" b="1">
                  <a:solidFill>
                    <a:srgbClr val="20A77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≈ 50 / 50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5000" y="1460500"/>
              <a:ext cx="5334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264">
                  <a:solidFill>
                    <a:srgbClr val="2474E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ONLINE / IN-STORE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5000" y="2711450"/>
              <a:ext cx="5334000" cy="897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0"/>
                </a:lnSpc>
              </a:pPr>
              <a:r>
                <a:rPr lang="en-US" sz="2100" b="1">
                  <a:solidFill>
                    <a:srgbClr val="10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Top in-store</a:t>
              </a:r>
            </a:p>
            <a:p>
              <a:pPr algn="l">
                <a:lnSpc>
                  <a:spcPts val="2730"/>
                </a:lnSpc>
              </a:pPr>
              <a:r>
                <a:rPr lang="en-US" sz="2100" b="1">
                  <a:solidFill>
                    <a:srgbClr val="10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Butchers  •  $101,777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5000" y="4235450"/>
              <a:ext cx="5334000" cy="897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0"/>
                </a:lnSpc>
              </a:pPr>
              <a:r>
                <a:rPr lang="en-US" sz="2100" b="1">
                  <a:solidFill>
                    <a:srgbClr val="10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Top online</a:t>
              </a:r>
            </a:p>
            <a:p>
              <a:pPr algn="l">
                <a:lnSpc>
                  <a:spcPts val="2730"/>
                </a:lnSpc>
              </a:pPr>
              <a:r>
                <a:rPr lang="en-US" sz="2100" b="1">
                  <a:solidFill>
                    <a:srgbClr val="10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Butchers  •  $106,341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5000" y="6076950"/>
              <a:ext cx="5334000" cy="7023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5D6D82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Evidence supports mature omnichannel behaviour; no causal claim is made.</a:t>
              </a:r>
            </a:p>
          </p:txBody>
        </p:sp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571500"/>
            <a:ext cx="8572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264">
                <a:solidFill>
                  <a:srgbClr val="2474E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07 • STATISTICAL ANALYSIS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2500" y="1114425"/>
            <a:ext cx="14287500" cy="493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600" b="1">
                <a:solidFill>
                  <a:srgbClr val="10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Payment choice does not constrain order size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811500" y="695325"/>
            <a:ext cx="1524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5D6D8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08 / 12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52500" y="400050"/>
            <a:ext cx="16383000" cy="47625"/>
            <a:chOff x="0" y="0"/>
            <a:chExt cx="21844000" cy="635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844000" cy="63500"/>
            </a:xfrm>
            <a:custGeom>
              <a:avLst/>
              <a:gdLst/>
              <a:ahLst/>
              <a:cxnLst/>
              <a:rect l="l" t="t" r="r" b="b"/>
              <a:pathLst>
                <a:path w="21844000" h="63500">
                  <a:moveTo>
                    <a:pt x="0" y="0"/>
                  </a:moveTo>
                  <a:lnTo>
                    <a:pt x="21844000" y="0"/>
                  </a:lnTo>
                  <a:lnTo>
                    <a:pt x="2184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2474E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18440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952500" y="2428875"/>
            <a:ext cx="10287000" cy="6172200"/>
          </a:xfrm>
          <a:custGeom>
            <a:avLst/>
            <a:gdLst/>
            <a:ahLst/>
            <a:cxnLst/>
            <a:rect l="l" t="t" r="r" b="b"/>
            <a:pathLst>
              <a:path w="10287000" h="6172200">
                <a:moveTo>
                  <a:pt x="0" y="0"/>
                </a:moveTo>
                <a:lnTo>
                  <a:pt x="10287000" y="0"/>
                </a:lnTo>
                <a:lnTo>
                  <a:pt x="102870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1811000" y="2428875"/>
            <a:ext cx="5524500" cy="6172200"/>
            <a:chOff x="0" y="0"/>
            <a:chExt cx="7366000" cy="8229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366000" cy="8229600"/>
            </a:xfrm>
            <a:custGeom>
              <a:avLst/>
              <a:gdLst/>
              <a:ahLst/>
              <a:cxnLst/>
              <a:rect l="l" t="t" r="r" b="b"/>
              <a:pathLst>
                <a:path w="7366000" h="8229600">
                  <a:moveTo>
                    <a:pt x="0" y="0"/>
                  </a:moveTo>
                  <a:lnTo>
                    <a:pt x="7366000" y="0"/>
                  </a:lnTo>
                  <a:lnTo>
                    <a:pt x="7366000" y="8229600"/>
                  </a:lnTo>
                  <a:lnTo>
                    <a:pt x="0" y="82296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7366000" cy="826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001500" y="2619375"/>
            <a:ext cx="5143500" cy="552450"/>
            <a:chOff x="0" y="0"/>
            <a:chExt cx="6858000" cy="736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858000" cy="736600"/>
            </a:xfrm>
            <a:custGeom>
              <a:avLst/>
              <a:gdLst/>
              <a:ahLst/>
              <a:cxnLst/>
              <a:rect l="l" t="t" r="r" b="b"/>
              <a:pathLst>
                <a:path w="6858000" h="736600">
                  <a:moveTo>
                    <a:pt x="0" y="0"/>
                  </a:moveTo>
                  <a:lnTo>
                    <a:pt x="6858000" y="0"/>
                  </a:lnTo>
                  <a:lnTo>
                    <a:pt x="6858000" y="736600"/>
                  </a:lnTo>
                  <a:lnTo>
                    <a:pt x="0" y="736600"/>
                  </a:lnTo>
                  <a:close/>
                </a:path>
              </a:pathLst>
            </a:custGeom>
            <a:solidFill>
              <a:srgbClr val="102B4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68580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2192000" y="2781300"/>
            <a:ext cx="1619250" cy="196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METHOD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906500" y="2781300"/>
            <a:ext cx="952500" cy="196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Q1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859000" y="2781300"/>
            <a:ext cx="1190625" cy="196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MEDIAN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097250" y="2781300"/>
            <a:ext cx="952500" cy="196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MEAN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192000" y="3467100"/>
            <a:ext cx="16192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Cash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906500" y="3467100"/>
            <a:ext cx="952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$52.00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859000" y="3467100"/>
            <a:ext cx="1190625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$109.50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097250" y="3467100"/>
            <a:ext cx="952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$131.05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192000" y="4171950"/>
            <a:ext cx="16192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Credit Card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906500" y="4171950"/>
            <a:ext cx="952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$51.00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859000" y="4171950"/>
            <a:ext cx="1190625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$108.50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097250" y="4171950"/>
            <a:ext cx="952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$129.13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192000" y="4876800"/>
            <a:ext cx="16192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Digital Wallet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906500" y="4876800"/>
            <a:ext cx="952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$50.00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859000" y="4876800"/>
            <a:ext cx="1190625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$107.50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6097250" y="4876800"/>
            <a:ext cx="952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$128.72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192000" y="6057900"/>
            <a:ext cx="4572000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5D6D82"/>
                </a:solidFill>
                <a:latin typeface="Source Sans 3"/>
                <a:ea typeface="Source Sans 3"/>
                <a:cs typeface="Source Sans 3"/>
                <a:sym typeface="Source Sans 3"/>
              </a:rPr>
              <a:t>Similar IQRs and upper values (~$410). Positive skew is consistent: means exceed medians.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 animBg="1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571500"/>
            <a:ext cx="8572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264">
                <a:solidFill>
                  <a:srgbClr val="2474E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08 • TIME SERIES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2500" y="1114425"/>
            <a:ext cx="14287500" cy="493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600" b="1">
                <a:solidFill>
                  <a:srgbClr val="10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Revenue remains stable across three full years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811500" y="695325"/>
            <a:ext cx="1524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5D6D8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09 / 12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52500" y="400050"/>
            <a:ext cx="16383000" cy="47625"/>
            <a:chOff x="0" y="0"/>
            <a:chExt cx="21844000" cy="635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844000" cy="63500"/>
            </a:xfrm>
            <a:custGeom>
              <a:avLst/>
              <a:gdLst/>
              <a:ahLst/>
              <a:cxnLst/>
              <a:rect l="l" t="t" r="r" b="b"/>
              <a:pathLst>
                <a:path w="21844000" h="63500">
                  <a:moveTo>
                    <a:pt x="0" y="0"/>
                  </a:moveTo>
                  <a:lnTo>
                    <a:pt x="21844000" y="0"/>
                  </a:lnTo>
                  <a:lnTo>
                    <a:pt x="2184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2474E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18440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1000" y="2295847"/>
            <a:ext cx="12019906" cy="6009953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12715875" y="2743200"/>
            <a:ext cx="4619625" cy="1190625"/>
            <a:chOff x="0" y="0"/>
            <a:chExt cx="6159500" cy="158750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6159500" cy="1587500"/>
              <a:chOff x="0" y="0"/>
              <a:chExt cx="6159500" cy="15875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159500" cy="1587500"/>
              </a:xfrm>
              <a:custGeom>
                <a:avLst/>
                <a:gdLst/>
                <a:ahLst/>
                <a:cxnLst/>
                <a:rect l="l" t="t" r="r" b="b"/>
                <a:pathLst>
                  <a:path w="6159500" h="1587500">
                    <a:moveTo>
                      <a:pt x="0" y="0"/>
                    </a:moveTo>
                    <a:lnTo>
                      <a:pt x="6159500" y="0"/>
                    </a:lnTo>
                    <a:lnTo>
                      <a:pt x="6159500" y="1587500"/>
                    </a:lnTo>
                    <a:lnTo>
                      <a:pt x="0" y="1587500"/>
                    </a:lnTo>
                    <a:close/>
                  </a:path>
                </a:pathLst>
              </a:custGeom>
              <a:solidFill>
                <a:srgbClr val="DFF5EC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6159500" cy="1625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508000" y="187325"/>
              <a:ext cx="4572000" cy="7626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830"/>
                </a:lnSpc>
              </a:pPr>
              <a:r>
                <a:rPr lang="en-US" sz="3450" b="1">
                  <a:solidFill>
                    <a:srgbClr val="20A77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$1.552m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08000" y="971550"/>
              <a:ext cx="4572000" cy="3467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 b="1">
                  <a:solidFill>
                    <a:srgbClr val="5D6D82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CLEANED TOTAL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715875" y="4124325"/>
            <a:ext cx="4619625" cy="1190625"/>
            <a:chOff x="0" y="0"/>
            <a:chExt cx="6159500" cy="158750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6159500" cy="1587500"/>
              <a:chOff x="0" y="0"/>
              <a:chExt cx="6159500" cy="15875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6159500" cy="1587500"/>
              </a:xfrm>
              <a:custGeom>
                <a:avLst/>
                <a:gdLst/>
                <a:ahLst/>
                <a:cxnLst/>
                <a:rect l="l" t="t" r="r" b="b"/>
                <a:pathLst>
                  <a:path w="6159500" h="1587500">
                    <a:moveTo>
                      <a:pt x="0" y="0"/>
                    </a:moveTo>
                    <a:lnTo>
                      <a:pt x="6159500" y="0"/>
                    </a:lnTo>
                    <a:lnTo>
                      <a:pt x="6159500" y="1587500"/>
                    </a:lnTo>
                    <a:lnTo>
                      <a:pt x="0" y="1587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6159500" cy="1625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508000" y="206375"/>
              <a:ext cx="45720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1">
                  <a:solidFill>
                    <a:srgbClr val="2474E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$510,329.50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8000" y="971550"/>
              <a:ext cx="4572000" cy="3467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 b="1">
                  <a:solidFill>
                    <a:srgbClr val="5D6D82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2022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715875" y="5505450"/>
            <a:ext cx="4619625" cy="1190625"/>
            <a:chOff x="0" y="0"/>
            <a:chExt cx="6159500" cy="158750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6159500" cy="1587500"/>
              <a:chOff x="0" y="0"/>
              <a:chExt cx="6159500" cy="15875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6159500" cy="1587500"/>
              </a:xfrm>
              <a:custGeom>
                <a:avLst/>
                <a:gdLst/>
                <a:ahLst/>
                <a:cxnLst/>
                <a:rect l="l" t="t" r="r" b="b"/>
                <a:pathLst>
                  <a:path w="6159500" h="1587500">
                    <a:moveTo>
                      <a:pt x="0" y="0"/>
                    </a:moveTo>
                    <a:lnTo>
                      <a:pt x="6159500" y="0"/>
                    </a:lnTo>
                    <a:lnTo>
                      <a:pt x="6159500" y="1587500"/>
                    </a:lnTo>
                    <a:lnTo>
                      <a:pt x="0" y="1587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6159500" cy="1625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508000" y="206375"/>
              <a:ext cx="45720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1">
                  <a:solidFill>
                    <a:srgbClr val="2474E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$491,312.00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08000" y="971550"/>
              <a:ext cx="4572000" cy="3467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 b="1">
                  <a:solidFill>
                    <a:srgbClr val="5D6D82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2023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715875" y="6886575"/>
            <a:ext cx="4619625" cy="1190625"/>
            <a:chOff x="0" y="0"/>
            <a:chExt cx="6159500" cy="1587500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6159500" cy="1587500"/>
              <a:chOff x="0" y="0"/>
              <a:chExt cx="6159500" cy="15875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6159500" cy="1587500"/>
              </a:xfrm>
              <a:custGeom>
                <a:avLst/>
                <a:gdLst/>
                <a:ahLst/>
                <a:cxnLst/>
                <a:rect l="l" t="t" r="r" b="b"/>
                <a:pathLst>
                  <a:path w="6159500" h="1587500">
                    <a:moveTo>
                      <a:pt x="0" y="0"/>
                    </a:moveTo>
                    <a:lnTo>
                      <a:pt x="6159500" y="0"/>
                    </a:lnTo>
                    <a:lnTo>
                      <a:pt x="6159500" y="1587500"/>
                    </a:lnTo>
                    <a:lnTo>
                      <a:pt x="0" y="1587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6159500" cy="1625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508000" y="206375"/>
              <a:ext cx="45720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1">
                  <a:solidFill>
                    <a:srgbClr val="2474E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$524,881.00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08000" y="971550"/>
              <a:ext cx="4572000" cy="3467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 b="1">
                  <a:solidFill>
                    <a:srgbClr val="5D6D82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2024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952500" y="8934450"/>
            <a:ext cx="14287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5D6D82"/>
                </a:solidFill>
                <a:latin typeface="Source Sans 3"/>
                <a:ea typeface="Source Sans 3"/>
                <a:cs typeface="Source Sans 3"/>
                <a:sym typeface="Source Sans 3"/>
              </a:rPr>
              <a:t>Typical month: ~$38k–$46k  •  no severe seasonal dips  •  2025 data ends 18 Jan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571500"/>
            <a:ext cx="8572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264">
                <a:solidFill>
                  <a:srgbClr val="2474E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09 • KEY EDA INSIGHTS &amp; PRACTICAL IMPLICATIONS: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2500" y="1114425"/>
            <a:ext cx="14287500" cy="493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600" b="1">
                <a:solidFill>
                  <a:srgbClr val="10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Three data-driven takeaways from our visualisations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811500" y="695325"/>
            <a:ext cx="1524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5D6D8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10 / 12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52500" y="400050"/>
            <a:ext cx="16383000" cy="47625"/>
            <a:chOff x="0" y="0"/>
            <a:chExt cx="21844000" cy="635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844000" cy="63500"/>
            </a:xfrm>
            <a:custGeom>
              <a:avLst/>
              <a:gdLst/>
              <a:ahLst/>
              <a:cxnLst/>
              <a:rect l="l" t="t" r="r" b="b"/>
              <a:pathLst>
                <a:path w="21844000" h="63500">
                  <a:moveTo>
                    <a:pt x="0" y="0"/>
                  </a:moveTo>
                  <a:lnTo>
                    <a:pt x="21844000" y="0"/>
                  </a:lnTo>
                  <a:lnTo>
                    <a:pt x="2184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2474E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18440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2500" y="2381250"/>
            <a:ext cx="5172075" cy="6381750"/>
            <a:chOff x="0" y="0"/>
            <a:chExt cx="6896100" cy="8509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6896100" cy="8509000"/>
              <a:chOff x="0" y="0"/>
              <a:chExt cx="6896100" cy="8509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896100" cy="8509000"/>
              </a:xfrm>
              <a:custGeom>
                <a:avLst/>
                <a:gdLst/>
                <a:ahLst/>
                <a:cxnLst/>
                <a:rect l="l" t="t" r="r" b="b"/>
                <a:pathLst>
                  <a:path w="6896100" h="8509000">
                    <a:moveTo>
                      <a:pt x="0" y="0"/>
                    </a:moveTo>
                    <a:lnTo>
                      <a:pt x="6896100" y="0"/>
                    </a:lnTo>
                    <a:lnTo>
                      <a:pt x="6896100" y="8509000"/>
                    </a:lnTo>
                    <a:lnTo>
                      <a:pt x="0" y="8509000"/>
                    </a:lnTo>
                    <a:close/>
                  </a:path>
                </a:pathLst>
              </a:custGeom>
              <a:solidFill>
                <a:srgbClr val="DBEAFE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6896100" cy="854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431800" y="342900"/>
              <a:ext cx="1016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2474E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1800" y="1104900"/>
              <a:ext cx="6032500" cy="472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 b="1">
                  <a:solidFill>
                    <a:srgbClr val="10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OMNICHANNEL SUPPLY CHAIN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1800" y="2593975"/>
              <a:ext cx="2032000" cy="2584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 b="1" spc="204">
                  <a:solidFill>
                    <a:srgbClr val="2474E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Finding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1800" y="3025775"/>
              <a:ext cx="6032500" cy="3752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10233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≈50% Online / 50% In-Store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1800" y="4308475"/>
              <a:ext cx="2032000" cy="2584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 b="1" spc="204">
                  <a:solidFill>
                    <a:srgbClr val="2474E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Action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1800" y="4740275"/>
              <a:ext cx="6032500" cy="3752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10233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Unify inventory buffers across both channels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1800" y="6022975"/>
              <a:ext cx="2032000" cy="2584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 b="1" spc="204">
                  <a:solidFill>
                    <a:srgbClr val="2474E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Benefit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1800" y="6454775"/>
              <a:ext cx="6032500" cy="3752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10233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Seamless fulfilment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10325" y="2381250"/>
            <a:ext cx="5172075" cy="6381750"/>
            <a:chOff x="0" y="0"/>
            <a:chExt cx="6896100" cy="8509000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6896100" cy="8509000"/>
              <a:chOff x="0" y="0"/>
              <a:chExt cx="6896100" cy="8509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6896100" cy="8509000"/>
              </a:xfrm>
              <a:custGeom>
                <a:avLst/>
                <a:gdLst/>
                <a:ahLst/>
                <a:cxnLst/>
                <a:rect l="l" t="t" r="r" b="b"/>
                <a:pathLst>
                  <a:path w="6896100" h="8509000">
                    <a:moveTo>
                      <a:pt x="0" y="0"/>
                    </a:moveTo>
                    <a:lnTo>
                      <a:pt x="6896100" y="0"/>
                    </a:lnTo>
                    <a:lnTo>
                      <a:pt x="6896100" y="8509000"/>
                    </a:lnTo>
                    <a:lnTo>
                      <a:pt x="0" y="8509000"/>
                    </a:lnTo>
                    <a:close/>
                  </a:path>
                </a:pathLst>
              </a:custGeom>
              <a:solidFill>
                <a:srgbClr val="DFF5EC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6896100" cy="854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431800" y="342900"/>
              <a:ext cx="1016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2474E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31800" y="1104900"/>
              <a:ext cx="6032500" cy="472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 b="1">
                  <a:solidFill>
                    <a:srgbClr val="10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CROSS-CATEGORY BUNDLING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31800" y="2593975"/>
              <a:ext cx="2032000" cy="2584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 b="1" spc="204">
                  <a:solidFill>
                    <a:srgbClr val="2474E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Finding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1800" y="3025775"/>
              <a:ext cx="6032500" cy="3752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10233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Similar unit volumes across sectors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31800" y="4308475"/>
              <a:ext cx="2032000" cy="2584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 b="1" spc="204">
                  <a:solidFill>
                    <a:srgbClr val="2474E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Action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1800" y="4740275"/>
              <a:ext cx="6032500" cy="7562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10233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Pair electronics with high-frequency perishables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31800" y="6022975"/>
              <a:ext cx="2032000" cy="2584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 b="1" spc="204">
                  <a:solidFill>
                    <a:srgbClr val="2474E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Benefit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31800" y="6454775"/>
              <a:ext cx="6032500" cy="3752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10233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Higher basket value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1868150" y="2381250"/>
            <a:ext cx="5172075" cy="6381750"/>
            <a:chOff x="0" y="0"/>
            <a:chExt cx="6896100" cy="8509000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6896100" cy="8509000"/>
              <a:chOff x="0" y="0"/>
              <a:chExt cx="6896100" cy="85090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6896100" cy="8509000"/>
              </a:xfrm>
              <a:custGeom>
                <a:avLst/>
                <a:gdLst/>
                <a:ahLst/>
                <a:cxnLst/>
                <a:rect l="l" t="t" r="r" b="b"/>
                <a:pathLst>
                  <a:path w="6896100" h="8509000">
                    <a:moveTo>
                      <a:pt x="0" y="0"/>
                    </a:moveTo>
                    <a:lnTo>
                      <a:pt x="6896100" y="0"/>
                    </a:lnTo>
                    <a:lnTo>
                      <a:pt x="6896100" y="8509000"/>
                    </a:lnTo>
                    <a:lnTo>
                      <a:pt x="0" y="8509000"/>
                    </a:lnTo>
                    <a:close/>
                  </a:path>
                </a:pathLst>
              </a:custGeom>
              <a:solidFill>
                <a:srgbClr val="FFF0D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38100"/>
                <a:ext cx="6896100" cy="854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431800" y="342900"/>
              <a:ext cx="1016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2474E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31800" y="1104900"/>
              <a:ext cx="6032500" cy="472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 b="1">
                  <a:solidFill>
                    <a:srgbClr val="10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PAYMENT FRICTION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31800" y="2593975"/>
              <a:ext cx="2032000" cy="2584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 b="1" spc="204">
                  <a:solidFill>
                    <a:srgbClr val="2474E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Finding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31800" y="3025775"/>
              <a:ext cx="6032500" cy="3752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10233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Order distributions are equivalent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31800" y="4308475"/>
              <a:ext cx="2032000" cy="2584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 b="1" spc="204">
                  <a:solidFill>
                    <a:srgbClr val="2474E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Action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31800" y="4740275"/>
              <a:ext cx="6032500" cy="3752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10233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Avoid wallet and card transaction fees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31800" y="6022975"/>
              <a:ext cx="2032000" cy="2584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 b="1" spc="204">
                  <a:solidFill>
                    <a:srgbClr val="2474E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Benefit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31800" y="6454775"/>
              <a:ext cx="6032500" cy="3752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10233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Frictionless checkout</a:t>
              </a:r>
            </a:p>
          </p:txBody>
        </p:sp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2500" y="400050"/>
            <a:ext cx="16383000" cy="47625"/>
            <a:chOff x="0" y="0"/>
            <a:chExt cx="21844000" cy="63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844000" cy="63500"/>
            </a:xfrm>
            <a:custGeom>
              <a:avLst/>
              <a:gdLst/>
              <a:ahLst/>
              <a:cxnLst/>
              <a:rect l="l" t="t" r="r" b="b"/>
              <a:pathLst>
                <a:path w="21844000" h="63500">
                  <a:moveTo>
                    <a:pt x="0" y="0"/>
                  </a:moveTo>
                  <a:lnTo>
                    <a:pt x="21844000" y="0"/>
                  </a:lnTo>
                  <a:lnTo>
                    <a:pt x="2184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2474E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8440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52500" y="590550"/>
            <a:ext cx="6667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264">
                <a:solidFill>
                  <a:srgbClr val="2474E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10 • REPRODUCIBILITY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52500" y="1000125"/>
            <a:ext cx="11430000" cy="678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0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Modular code. Public evidence.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52500" y="2381250"/>
            <a:ext cx="10287000" cy="5429250"/>
            <a:chOff x="0" y="0"/>
            <a:chExt cx="13716000" cy="723900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3716000" cy="7239000"/>
              <a:chOff x="0" y="0"/>
              <a:chExt cx="13716000" cy="7239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3716000" cy="7239000"/>
              </a:xfrm>
              <a:custGeom>
                <a:avLst/>
                <a:gdLst/>
                <a:ahLst/>
                <a:cxnLst/>
                <a:rect l="l" t="t" r="r" b="b"/>
                <a:pathLst>
                  <a:path w="13716000" h="7239000">
                    <a:moveTo>
                      <a:pt x="0" y="0"/>
                    </a:moveTo>
                    <a:lnTo>
                      <a:pt x="13716000" y="0"/>
                    </a:lnTo>
                    <a:lnTo>
                      <a:pt x="13716000" y="7239000"/>
                    </a:lnTo>
                    <a:lnTo>
                      <a:pt x="0" y="7239000"/>
                    </a:lnTo>
                    <a:close/>
                  </a:path>
                </a:pathLst>
              </a:custGeom>
              <a:solidFill>
                <a:srgbClr val="102B4E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13716000" cy="727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571500" y="415925"/>
              <a:ext cx="12065000" cy="3771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83"/>
                </a:lnSpc>
              </a:pPr>
              <a:r>
                <a:rPr lang="en-US" sz="1575">
                  <a:solidFill>
                    <a:srgbClr val="DCE9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def generate_relational_plot(df: pd.DataFrame,</a:t>
              </a:r>
            </a:p>
            <a:p>
              <a:pPr algn="l">
                <a:lnSpc>
                  <a:spcPts val="2283"/>
                </a:lnSpc>
              </a:pPr>
              <a:r>
                <a:rPr lang="en-US" sz="1575">
                  <a:solidFill>
                    <a:srgbClr val="DCE9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output_name: str = "relational_plot.png") -&gt; None:</a:t>
              </a:r>
            </a:p>
            <a:p>
              <a:pPr algn="l">
                <a:lnSpc>
                  <a:spcPts val="2283"/>
                </a:lnSpc>
              </a:pPr>
              <a:r>
                <a:rPr lang="en-US" sz="1575">
                  <a:solidFill>
                    <a:srgbClr val="DCE9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"""Scatter quantity versus total spend by category."""</a:t>
              </a:r>
            </a:p>
            <a:p>
              <a:pPr algn="l">
                <a:lnSpc>
                  <a:spcPts val="2283"/>
                </a:lnSpc>
              </a:pPr>
              <a:r>
                <a:rPr lang="en-US" sz="1575">
                  <a:solidFill>
                    <a:srgbClr val="DCE9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fig, ax = plt.subplots(figsize=(10, 6))</a:t>
              </a:r>
            </a:p>
            <a:p>
              <a:pPr algn="l">
                <a:lnSpc>
                  <a:spcPts val="2283"/>
                </a:lnSpc>
              </a:pPr>
              <a:r>
                <a:rPr lang="en-US" sz="1575">
                  <a:solidFill>
                    <a:srgbClr val="DCE9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sns.scatterplot(data=df, x="Quantity",</a:t>
              </a:r>
            </a:p>
            <a:p>
              <a:pPr algn="l">
                <a:lnSpc>
                  <a:spcPts val="2283"/>
                </a:lnSpc>
              </a:pPr>
              <a:r>
                <a:rPr lang="en-US" sz="1575">
                  <a:solidFill>
                    <a:srgbClr val="DCE9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    y="Total Spent", hue="Category", ax=ax)</a:t>
              </a:r>
            </a:p>
            <a:p>
              <a:pPr algn="l">
                <a:lnSpc>
                  <a:spcPts val="2283"/>
                </a:lnSpc>
              </a:pPr>
              <a:r>
                <a:rPr lang="en-US" sz="1575">
                  <a:solidFill>
                    <a:srgbClr val="DCE9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ax.set_title("Quantity Purchased vs. Total Spent")</a:t>
              </a:r>
            </a:p>
            <a:p>
              <a:pPr algn="l">
                <a:lnSpc>
                  <a:spcPts val="2283"/>
                </a:lnSpc>
              </a:pPr>
              <a:r>
                <a:rPr lang="en-US" sz="1575">
                  <a:solidFill>
                    <a:srgbClr val="DCE9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fig.tight_layout()</a:t>
              </a:r>
            </a:p>
            <a:p>
              <a:pPr algn="l">
                <a:lnSpc>
                  <a:spcPts val="2283"/>
                </a:lnSpc>
              </a:pPr>
              <a:r>
                <a:rPr lang="en-US" sz="1575">
                  <a:solidFill>
                    <a:srgbClr val="DCE9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fig.savefig(output_name, dpi=300)</a:t>
              </a:r>
            </a:p>
            <a:p>
              <a:pPr algn="l">
                <a:lnSpc>
                  <a:spcPts val="2283"/>
                </a:lnSpc>
              </a:pPr>
              <a:r>
                <a:rPr lang="en-US" sz="1575">
                  <a:solidFill>
                    <a:srgbClr val="DCE9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plt.close(fig)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382375" y="2381250"/>
            <a:ext cx="5953125" cy="6000750"/>
            <a:chOff x="0" y="0"/>
            <a:chExt cx="7937500" cy="800100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7937500" cy="8001000"/>
              <a:chOff x="0" y="0"/>
              <a:chExt cx="7937500" cy="8001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7937500" cy="8001000"/>
              </a:xfrm>
              <a:custGeom>
                <a:avLst/>
                <a:gdLst/>
                <a:ahLst/>
                <a:cxnLst/>
                <a:rect l="l" t="t" r="r" b="b"/>
                <a:pathLst>
                  <a:path w="7937500" h="8001000">
                    <a:moveTo>
                      <a:pt x="0" y="0"/>
                    </a:moveTo>
                    <a:lnTo>
                      <a:pt x="7937500" y="0"/>
                    </a:lnTo>
                    <a:lnTo>
                      <a:pt x="7937500" y="8001000"/>
                    </a:lnTo>
                    <a:lnTo>
                      <a:pt x="0" y="8001000"/>
                    </a:lnTo>
                    <a:close/>
                  </a:path>
                </a:pathLst>
              </a:custGeom>
              <a:solidFill>
                <a:srgbClr val="12375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7937500" cy="803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635000" y="663575"/>
              <a:ext cx="6096000" cy="3746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01"/>
                </a:lnSpc>
              </a:pPr>
              <a:r>
                <a:rPr lang="en-US" sz="1725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FUNCTIONS</a:t>
              </a:r>
            </a:p>
            <a:p>
              <a:pPr algn="l">
                <a:lnSpc>
                  <a:spcPts val="2501"/>
                </a:lnSpc>
              </a:pPr>
              <a:r>
                <a:rPr lang="en-US" sz="1725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generate_relational_plot</a:t>
              </a:r>
            </a:p>
            <a:p>
              <a:pPr algn="l">
                <a:lnSpc>
                  <a:spcPts val="2501"/>
                </a:lnSpc>
              </a:pPr>
              <a:r>
                <a:rPr lang="en-US" sz="1725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generate_categorical_plot</a:t>
              </a:r>
            </a:p>
            <a:p>
              <a:pPr algn="l">
                <a:lnSpc>
                  <a:spcPts val="2501"/>
                </a:lnSpc>
              </a:pPr>
              <a:r>
                <a:rPr lang="en-US" sz="1725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generate_statistical_plot</a:t>
              </a:r>
            </a:p>
            <a:p>
              <a:pPr algn="l">
                <a:lnSpc>
                  <a:spcPts val="2501"/>
                </a:lnSpc>
              </a:pPr>
              <a:r>
                <a:rPr lang="en-US" sz="1725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generate_timeseries_plot</a:t>
              </a:r>
            </a:p>
            <a:p>
              <a:pPr algn="l">
                <a:lnSpc>
                  <a:spcPts val="2501"/>
                </a:lnSpc>
              </a:pPr>
              <a:endParaRPr lang="en-US" sz="1725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  <a:p>
              <a:pPr algn="l">
                <a:lnSpc>
                  <a:spcPts val="2501"/>
                </a:lnSpc>
              </a:pPr>
              <a:r>
                <a:rPr lang="en-US" sz="1725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LIBRARIES</a:t>
              </a:r>
            </a:p>
            <a:p>
              <a:pPr algn="l">
                <a:lnSpc>
                  <a:spcPts val="2501"/>
                </a:lnSpc>
              </a:pPr>
              <a:r>
                <a:rPr lang="en-US" sz="1725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pandas  •  numpy</a:t>
              </a:r>
            </a:p>
            <a:p>
              <a:pPr algn="l">
                <a:lnSpc>
                  <a:spcPts val="2501"/>
                </a:lnSpc>
              </a:pPr>
              <a:r>
                <a:rPr lang="en-US" sz="1725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matplotlib  •  seaborn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5000" y="5016500"/>
              <a:ext cx="6350000" cy="2720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66"/>
                </a:lnSpc>
              </a:pPr>
              <a:r>
                <a:rPr lang="en-US" sz="1425">
                  <a:solidFill>
                    <a:srgbClr val="C9D7E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REPOSITORY</a:t>
              </a:r>
            </a:p>
            <a:p>
              <a:pPr algn="l">
                <a:lnSpc>
                  <a:spcPts val="2066"/>
                </a:lnSpc>
              </a:pPr>
              <a:r>
                <a:rPr lang="en-US" sz="1425">
                  <a:solidFill>
                    <a:srgbClr val="C9D7E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├─ retail_store_sales Assignment 1.csv</a:t>
              </a:r>
            </a:p>
            <a:p>
              <a:pPr algn="l">
                <a:lnSpc>
                  <a:spcPts val="2066"/>
                </a:lnSpc>
              </a:pPr>
              <a:r>
                <a:rPr lang="en-US" sz="1425">
                  <a:solidFill>
                    <a:srgbClr val="C9D7E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├─ eda_pipeline.py</a:t>
              </a:r>
            </a:p>
            <a:p>
              <a:pPr algn="l">
                <a:lnSpc>
                  <a:spcPts val="2066"/>
                </a:lnSpc>
              </a:pPr>
              <a:r>
                <a:rPr lang="en-US" sz="1425">
                  <a:solidFill>
                    <a:srgbClr val="C9D7E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├─ relational_plot.png</a:t>
              </a:r>
            </a:p>
            <a:p>
              <a:pPr algn="l">
                <a:lnSpc>
                  <a:spcPts val="2066"/>
                </a:lnSpc>
              </a:pPr>
              <a:r>
                <a:rPr lang="en-US" sz="1425">
                  <a:solidFill>
                    <a:srgbClr val="C9D7E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├─ categorical_plot.png</a:t>
              </a:r>
            </a:p>
            <a:p>
              <a:pPr algn="l">
                <a:lnSpc>
                  <a:spcPts val="2066"/>
                </a:lnSpc>
              </a:pPr>
              <a:r>
                <a:rPr lang="en-US" sz="1425">
                  <a:solidFill>
                    <a:srgbClr val="C9D7E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├─ statistical_plot.png</a:t>
              </a:r>
            </a:p>
            <a:p>
              <a:pPr algn="l">
                <a:lnSpc>
                  <a:spcPts val="2066"/>
                </a:lnSpc>
              </a:pPr>
              <a:r>
                <a:rPr lang="en-US" sz="1425">
                  <a:solidFill>
                    <a:srgbClr val="C9D7E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├─ timeseries_plot.png</a:t>
              </a:r>
            </a:p>
            <a:p>
              <a:pPr algn="l">
                <a:lnSpc>
                  <a:spcPts val="2066"/>
                </a:lnSpc>
              </a:pPr>
              <a:r>
                <a:rPr lang="en-US" sz="1425">
                  <a:solidFill>
                    <a:srgbClr val="C9D7E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└─ README.md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33500" y="8286750"/>
            <a:ext cx="14859000" cy="571500"/>
            <a:chOff x="0" y="0"/>
            <a:chExt cx="19812000" cy="762000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8255000" cy="762000"/>
              <a:chOff x="0" y="0"/>
              <a:chExt cx="8255000" cy="7620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255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8255000" h="762000">
                    <a:moveTo>
                      <a:pt x="0" y="0"/>
                    </a:moveTo>
                    <a:lnTo>
                      <a:pt x="8255000" y="0"/>
                    </a:lnTo>
                    <a:lnTo>
                      <a:pt x="8255000" y="762000"/>
                    </a:lnTo>
                    <a:lnTo>
                      <a:pt x="0" y="762000"/>
                    </a:lnTo>
                    <a:close/>
                  </a:path>
                </a:pathLst>
              </a:custGeom>
              <a:solidFill>
                <a:srgbClr val="2474E5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8255000" cy="80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381000" y="174625"/>
              <a:ext cx="7620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  <a:hlinkClick r:id="rId3" tooltip="https://github.com/overwatch093-alt/ADS1-Assignment1-Retail-EDA"/>
                </a:rPr>
                <a:t>VIEW PUBLIC GITHUB REPOSITORY  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36000" y="276225"/>
              <a:ext cx="11176000" cy="310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>
                  <a:solidFill>
                    <a:srgbClr val="9CB9DF"/>
                  </a:solidFill>
                  <a:latin typeface="Source Sans 3"/>
                  <a:ea typeface="Source Sans 3"/>
                  <a:cs typeface="Source Sans 3"/>
                  <a:sym typeface="Source Sans 3"/>
                  <a:hlinkClick r:id="rId3" tooltip="https://github.com/overwatch093-alt/ADS1-Assignment1-Retail-EDA"/>
                </a:rPr>
                <a:t>https://github.com/overwatch093-alt/ADS1-Assignment1-Retail-EDA</a:t>
              </a:r>
            </a:p>
          </p:txBody>
        </p:sp>
      </p:grp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2500" y="400050"/>
            <a:ext cx="16383000" cy="47625"/>
            <a:chOff x="0" y="0"/>
            <a:chExt cx="21844000" cy="63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844000" cy="63500"/>
            </a:xfrm>
            <a:custGeom>
              <a:avLst/>
              <a:gdLst/>
              <a:ahLst/>
              <a:cxnLst/>
              <a:rect l="l" t="t" r="r" b="b"/>
              <a:pathLst>
                <a:path w="21844000" h="63500">
                  <a:moveTo>
                    <a:pt x="0" y="0"/>
                  </a:moveTo>
                  <a:lnTo>
                    <a:pt x="21844000" y="0"/>
                  </a:lnTo>
                  <a:lnTo>
                    <a:pt x="2184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20A77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8440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52500" y="647700"/>
            <a:ext cx="6667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264">
                <a:solidFill>
                  <a:srgbClr val="72D6B4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11 • RESPONSIBLE PRACTICE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52500" y="1200150"/>
            <a:ext cx="10477500" cy="1109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University of Hertfordshire</a:t>
            </a:r>
          </a:p>
          <a:p>
            <a:pPr algn="l">
              <a:lnSpc>
                <a:spcPts val="4374"/>
              </a:lnSpc>
            </a:pPr>
            <a:r>
              <a:rPr lang="en-US" sz="40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GenAI Policy Compliance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52500" y="3905250"/>
            <a:ext cx="16383000" cy="3143250"/>
            <a:chOff x="0" y="0"/>
            <a:chExt cx="21844000" cy="4191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844000" cy="4191000"/>
            </a:xfrm>
            <a:custGeom>
              <a:avLst/>
              <a:gdLst/>
              <a:ahLst/>
              <a:cxnLst/>
              <a:rect l="l" t="t" r="r" b="b"/>
              <a:pathLst>
                <a:path w="21844000" h="4191000">
                  <a:moveTo>
                    <a:pt x="0" y="0"/>
                  </a:moveTo>
                  <a:lnTo>
                    <a:pt x="21844000" y="0"/>
                  </a:lnTo>
                  <a:lnTo>
                    <a:pt x="21844000" y="4191000"/>
                  </a:lnTo>
                  <a:lnTo>
                    <a:pt x="0" y="4191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1844000" cy="422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04900" y="4057650"/>
            <a:ext cx="16078200" cy="609600"/>
            <a:chOff x="0" y="0"/>
            <a:chExt cx="214376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437600" cy="812800"/>
            </a:xfrm>
            <a:custGeom>
              <a:avLst/>
              <a:gdLst/>
              <a:ahLst/>
              <a:cxnLst/>
              <a:rect l="l" t="t" r="r" b="b"/>
              <a:pathLst>
                <a:path w="21437600" h="812800">
                  <a:moveTo>
                    <a:pt x="0" y="0"/>
                  </a:moveTo>
                  <a:lnTo>
                    <a:pt x="21437600" y="0"/>
                  </a:lnTo>
                  <a:lnTo>
                    <a:pt x="214376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474E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14376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85875" y="4210050"/>
            <a:ext cx="3619500" cy="240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AI TOOL USED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34000" y="4210050"/>
            <a:ext cx="4762500" cy="240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SPECIFIC PURPOSE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572750" y="4210050"/>
            <a:ext cx="5905500" cy="240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EXTENT &amp; SCOPE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85875" y="5057775"/>
            <a:ext cx="361950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Gemini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334000" y="5057775"/>
            <a:ext cx="476250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Python code syntax &amp; formatting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572750" y="5057775"/>
            <a:ext cx="590550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Syntax validation of pandas &amp; seaborn code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85875" y="5915025"/>
            <a:ext cx="361950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Gemini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334000" y="5915025"/>
            <a:ext cx="476250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Grammar &amp; spelling proofreading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572750" y="5915025"/>
            <a:ext cx="590550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Review of presentation slide text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52500" y="7981950"/>
            <a:ext cx="14287500" cy="1129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27"/>
              </a:lnSpc>
            </a:pPr>
            <a:r>
              <a:rPr lang="en-US" sz="384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 for your time.</a:t>
            </a:r>
          </a:p>
          <a:p>
            <a:pPr algn="l">
              <a:lnSpc>
                <a:spcPts val="4427"/>
              </a:lnSpc>
            </a:pPr>
            <a:endParaRPr lang="en-US" sz="3849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grpSp>
        <p:nvGrpSpPr>
          <p:cNvPr id="23" name="Group 23"/>
          <p:cNvGrpSpPr/>
          <p:nvPr/>
        </p:nvGrpSpPr>
        <p:grpSpPr>
          <a:xfrm>
            <a:off x="14763750" y="8572500"/>
            <a:ext cx="2571750" cy="514350"/>
            <a:chOff x="0" y="0"/>
            <a:chExt cx="3429000" cy="685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429000" cy="685800"/>
            </a:xfrm>
            <a:custGeom>
              <a:avLst/>
              <a:gdLst/>
              <a:ahLst/>
              <a:cxnLst/>
              <a:rect l="l" t="t" r="r" b="b"/>
              <a:pathLst>
                <a:path w="3429000" h="685800">
                  <a:moveTo>
                    <a:pt x="131704" y="0"/>
                  </a:moveTo>
                  <a:lnTo>
                    <a:pt x="3297296" y="0"/>
                  </a:lnTo>
                  <a:cubicBezTo>
                    <a:pt x="3332226" y="0"/>
                    <a:pt x="3365726" y="13876"/>
                    <a:pt x="3390425" y="38575"/>
                  </a:cubicBezTo>
                  <a:cubicBezTo>
                    <a:pt x="3415124" y="63274"/>
                    <a:pt x="3429000" y="96774"/>
                    <a:pt x="3429000" y="131704"/>
                  </a:cubicBezTo>
                  <a:lnTo>
                    <a:pt x="3429000" y="554096"/>
                  </a:lnTo>
                  <a:cubicBezTo>
                    <a:pt x="3429000" y="589026"/>
                    <a:pt x="3415124" y="622526"/>
                    <a:pt x="3390425" y="647225"/>
                  </a:cubicBezTo>
                  <a:cubicBezTo>
                    <a:pt x="3365726" y="671924"/>
                    <a:pt x="3332226" y="685800"/>
                    <a:pt x="3297296" y="685800"/>
                  </a:cubicBezTo>
                  <a:lnTo>
                    <a:pt x="131704" y="685800"/>
                  </a:lnTo>
                  <a:cubicBezTo>
                    <a:pt x="96774" y="685800"/>
                    <a:pt x="63274" y="671924"/>
                    <a:pt x="38575" y="647225"/>
                  </a:cubicBezTo>
                  <a:cubicBezTo>
                    <a:pt x="13876" y="622526"/>
                    <a:pt x="0" y="589026"/>
                    <a:pt x="0" y="554096"/>
                  </a:cubicBezTo>
                  <a:lnTo>
                    <a:pt x="0" y="131704"/>
                  </a:lnTo>
                  <a:cubicBezTo>
                    <a:pt x="0" y="96774"/>
                    <a:pt x="13876" y="63274"/>
                    <a:pt x="38575" y="38575"/>
                  </a:cubicBezTo>
                  <a:cubicBezTo>
                    <a:pt x="63274" y="13876"/>
                    <a:pt x="96774" y="0"/>
                    <a:pt x="131704" y="0"/>
                  </a:cubicBezTo>
                  <a:close/>
                </a:path>
              </a:pathLst>
            </a:custGeom>
            <a:solidFill>
              <a:srgbClr val="20A779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34290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QUESTIONS WELCOME</a:t>
              </a:r>
            </a:p>
          </p:txBody>
        </p:sp>
      </p:grpSp>
    </p:spTree>
  </p:cSld>
  <p:clrMapOvr>
    <a:masterClrMapping/>
  </p:clrMapOvr>
  <p:transition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1022</Words>
  <Application>Microsoft Office PowerPoint</Application>
  <PresentationFormat>Custom</PresentationFormat>
  <Paragraphs>291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Montserrat Bold</vt:lpstr>
      <vt:lpstr>Calibri</vt:lpstr>
      <vt:lpstr>IBM Plex Mono</vt:lpstr>
      <vt:lpstr>Arial</vt:lpstr>
      <vt:lpstr>Source Sans 3 Bold</vt:lpstr>
      <vt:lpstr>Source Sans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Assignment 1 _Data science applied 1 </dc:title>
  <cp:lastModifiedBy>Truong Tan Phat</cp:lastModifiedBy>
  <cp:revision>3</cp:revision>
  <dcterms:created xsi:type="dcterms:W3CDTF">2006-08-16T00:00:00Z</dcterms:created>
  <dcterms:modified xsi:type="dcterms:W3CDTF">2026-10-16T13:01:49Z</dcterms:modified>
  <dc:identifier>DAHXUIt1B6o</dc:identifier>
</cp:coreProperties>
</file>